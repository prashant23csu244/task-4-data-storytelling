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Overpass Thin"/>
      <p:regular r:id="rId201314"/>
    </p:embeddedFont>
    <p:embeddedFont>
      <p:font typeface="Overpass ExtraLight"/>
      <p:regular r:id="rId201315"/>
    </p:embeddedFont>
    <p:embeddedFont>
      <p:font typeface="Overpass Light"/>
      <p:regular r:id="rId201316"/>
    </p:embeddedFont>
    <p:embeddedFont>
      <p:font typeface="Overpass"/>
      <p:regular r:id="rId201317"/>
    </p:embeddedFont>
    <p:embeddedFont>
      <p:font typeface="Overpass Medium"/>
      <p:regular r:id="rId201318"/>
    </p:embeddedFont>
    <p:embeddedFont>
      <p:font typeface="Overpass SemiBold"/>
      <p:regular r:id="rId201319"/>
    </p:embeddedFont>
    <p:embeddedFont>
      <p:font typeface="Overpass Bold"/>
      <p:regular r:id="rId201320"/>
    </p:embeddedFont>
    <p:embeddedFont>
      <p:font typeface="Overpass Black"/>
      <p:regular r:id="rId201321"/>
    </p:embeddedFont>
    <p:embeddedFont>
      <p:font typeface="Overpass ExtraBold"/>
      <p:regular r:id="rId2013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jpeg"/><Relationship Id="rId3" Type="http://schemas.openxmlformats.org/officeDocument/2006/relationships/image" Target="../media/image-1002-2.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52222">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252222">
              <a:alpha val="95000"/>
            </a:srgbClr>
          </a:solidFill>
          <a:ln/>
        </p:spPr>
      </p:sp>
      <p:pic>
        <p:nvPicPr>
          <p:cNvPr id="4"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5" name="Shape 1"/>
          <p:cNvSpPr/>
          <p:nvPr/>
        </p:nvSpPr>
        <p:spPr>
          <a:xfrm>
            <a:off x="0" y="0"/>
            <a:ext cx="9144000" cy="5143500"/>
          </a:xfrm>
          <a:prstGeom prst="rect">
            <a:avLst/>
          </a:prstGeom>
          <a:solidFill>
            <a:srgbClr val="252222">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image" Target="../media/image-3-1.png"/><Relationship Id="rId12" Type="http://schemas.openxmlformats.org/officeDocument/2006/relationships/image" Target="../media/image-3-2.svg"/><Relationship Id="rId13" Type="http://schemas.openxmlformats.org/officeDocument/2006/relationships/image" Target="../media/image-3-1.png"/><Relationship Id="rId14" Type="http://schemas.openxmlformats.org/officeDocument/2006/relationships/image" Target="../media/image-3-2.svg"/><Relationship Id="rId15" Type="http://schemas.openxmlformats.org/officeDocument/2006/relationships/image" Target="../media/image-3-1.png"/><Relationship Id="rId16" Type="http://schemas.openxmlformats.org/officeDocument/2006/relationships/image" Target="../media/image-3-2.sv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svg"/><Relationship Id="rId12" Type="http://schemas.openxmlformats.org/officeDocument/2006/relationships/image" Target="../media/image-10-4.png"/><Relationship Id="rId13" Type="http://schemas.openxmlformats.org/officeDocument/2006/relationships/image" Target="../media/image-10-5.svg"/><Relationship Id="rId14" Type="http://schemas.openxmlformats.org/officeDocument/2006/relationships/image" Target="../media/image-10-14.png"/><Relationship Id="rId15" Type="http://schemas.openxmlformats.org/officeDocument/2006/relationships/image" Target="../media/image-10-15.svg"/><Relationship Id="rId16" Type="http://schemas.openxmlformats.org/officeDocument/2006/relationships/image" Target="../media/image-10-16.png"/><Relationship Id="rId17" Type="http://schemas.openxmlformats.org/officeDocument/2006/relationships/image" Target="../media/image-10-17.svg"/><Relationship Id="rId18" Type="http://schemas.openxmlformats.org/officeDocument/2006/relationships/slideLayout" Target="../slideLayouts/slideLayout2.xml"/><Relationship Id="rId1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1064344"/>
            <a:ext cx="4667845" cy="880021"/>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Task 4: Data Storytelling &amp; Insights Presentation</a:t>
            </a:r>
            <a:endParaRPr lang="en-US" sz="2750" dirty="0"/>
          </a:p>
        </p:txBody>
      </p:sp>
      <p:sp>
        <p:nvSpPr>
          <p:cNvPr id="4" name="Text 1"/>
          <p:cNvSpPr/>
          <p:nvPr/>
        </p:nvSpPr>
        <p:spPr>
          <a:xfrm>
            <a:off x="3952577" y="2004194"/>
            <a:ext cx="4667845"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Superstore Sales Analysis</a:t>
            </a:r>
            <a:endParaRPr lang="en-US" sz="1350" dirty="0"/>
          </a:p>
        </p:txBody>
      </p:sp>
      <p:sp>
        <p:nvSpPr>
          <p:cNvPr id="5" name="Text 2"/>
          <p:cNvSpPr/>
          <p:nvPr/>
        </p:nvSpPr>
        <p:spPr>
          <a:xfrm>
            <a:off x="3952577" y="2448520"/>
            <a:ext cx="4667845" cy="647030"/>
          </a:xfrm>
          <a:prstGeom prst="rect">
            <a:avLst/>
          </a:prstGeom>
          <a:noFill/>
          <a:ln/>
        </p:spPr>
        <p:txBody>
          <a:bodyPr wrap="square" lIns="0" tIns="0" rIns="0" bIns="0" rtlCol="0" anchor="t"/>
          <a:lstStyle/>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Internship:</a:t>
            </a:r>
            <a:pPr algn="l"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 ApexPlanet Software Pvt. Ltd.</a:t>
            </a:r>
            <a:endParaRPr lang="en-US" sz="1150" dirty="0"/>
          </a:p>
          <a:p>
            <a:pPr algn="l" indent="0" marL="0">
              <a:lnSpc>
                <a:spcPct val="133000"/>
              </a:lnSpc>
              <a:buNone/>
            </a:pPr>
            <a:r>
              <a:rPr lang="en-US" sz="1150" b="1" dirty="0">
                <a:solidFill>
                  <a:srgbClr val="E5E0DF"/>
                </a:solidFill>
                <a:latin typeface="Overpass Bold" pitchFamily="34" charset="0"/>
                <a:ea typeface="Overpass Bold" pitchFamily="34" charset="-122"/>
                <a:cs typeface="Overpass Bold" pitchFamily="34" charset="-120"/>
              </a:rPr>
              <a:t>Prepared by:</a:t>
            </a:r>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 Prashant Kumar</a:t>
            </a:r>
            <a:endParaRPr lang="en-US" sz="1150" dirty="0"/>
          </a:p>
        </p:txBody>
      </p:sp>
      <p:sp>
        <p:nvSpPr>
          <p:cNvPr id="6" name="Shape 3"/>
          <p:cNvSpPr/>
          <p:nvPr/>
        </p:nvSpPr>
        <p:spPr>
          <a:xfrm>
            <a:off x="3952577" y="3263801"/>
            <a:ext cx="19050" cy="815280"/>
          </a:xfrm>
          <a:prstGeom prst="roundRect">
            <a:avLst>
              <a:gd name="adj" fmla="val 60000"/>
            </a:avLst>
          </a:prstGeom>
          <a:solidFill>
            <a:srgbClr val="F20374"/>
          </a:solidFill>
          <a:ln/>
        </p:spPr>
      </p:sp>
      <p:sp>
        <p:nvSpPr>
          <p:cNvPr id="7" name="Text 4"/>
          <p:cNvSpPr/>
          <p:nvPr/>
        </p:nvSpPr>
        <p:spPr>
          <a:xfrm>
            <a:off x="4176936" y="3432051"/>
            <a:ext cx="4443487"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Turning retail sales data into actionable business insights using analysis, visualization, and storytelling.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455712"/>
            <a:ext cx="8096845" cy="371326"/>
          </a:xfrm>
          <a:prstGeom prst="rect">
            <a:avLst/>
          </a:prstGeom>
          <a:noFill/>
          <a:ln/>
        </p:spPr>
        <p:txBody>
          <a:bodyPr wrap="none" lIns="0" tIns="0" rIns="0" bIns="0" rtlCol="0" anchor="t"/>
          <a:lstStyle/>
          <a:p>
            <a:pPr algn="l" indent="0" marL="0">
              <a:lnSpc>
                <a:spcPct val="104000"/>
              </a:lnSpc>
              <a:buNone/>
            </a:pPr>
            <a:r>
              <a:rPr lang="en-US" sz="2300" b="1" dirty="0">
                <a:solidFill>
                  <a:srgbClr val="FFFFFF"/>
                </a:solidFill>
                <a:latin typeface="Overpass Bold" pitchFamily="34" charset="0"/>
                <a:ea typeface="Overpass Bold" pitchFamily="34" charset="-122"/>
                <a:cs typeface="Overpass Bold" pitchFamily="34" charset="-120"/>
              </a:rPr>
              <a:t>Project Objective &amp; Dataset Overview</a:t>
            </a:r>
            <a:endParaRPr lang="en-US" sz="2300" dirty="0"/>
          </a:p>
        </p:txBody>
      </p:sp>
      <p:sp>
        <p:nvSpPr>
          <p:cNvPr id="3" name="Shape 1"/>
          <p:cNvSpPr/>
          <p:nvPr/>
        </p:nvSpPr>
        <p:spPr>
          <a:xfrm>
            <a:off x="432718" y="986805"/>
            <a:ext cx="4076179" cy="3700983"/>
          </a:xfrm>
          <a:prstGeom prst="roundRect">
            <a:avLst>
              <a:gd name="adj" fmla="val 2456"/>
            </a:avLst>
          </a:prstGeom>
          <a:solidFill>
            <a:srgbClr val="F20374">
              <a:alpha val="95000"/>
            </a:srgbClr>
          </a:solidFill>
          <a:ln/>
        </p:spPr>
      </p:sp>
      <p:sp>
        <p:nvSpPr>
          <p:cNvPr id="4" name="Text 2"/>
          <p:cNvSpPr/>
          <p:nvPr/>
        </p:nvSpPr>
        <p:spPr>
          <a:xfrm>
            <a:off x="558924" y="1093291"/>
            <a:ext cx="3823767" cy="185663"/>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Overpass Bold" pitchFamily="34" charset="0"/>
                <a:ea typeface="Overpass Bold" pitchFamily="34" charset="-122"/>
                <a:cs typeface="Overpass Bold" pitchFamily="34" charset="-120"/>
              </a:rPr>
              <a:t>Objective</a:t>
            </a:r>
            <a:endParaRPr lang="en-US" sz="1150" dirty="0"/>
          </a:p>
        </p:txBody>
      </p:sp>
      <p:sp>
        <p:nvSpPr>
          <p:cNvPr id="5" name="Text 3"/>
          <p:cNvSpPr/>
          <p:nvPr/>
        </p:nvSpPr>
        <p:spPr>
          <a:xfrm>
            <a:off x="558924" y="1385441"/>
            <a:ext cx="3823767" cy="744438"/>
          </a:xfrm>
          <a:prstGeom prst="rect">
            <a:avLst/>
          </a:prstGeom>
          <a:noFill/>
          <a:ln/>
        </p:spPr>
        <p:txBody>
          <a:bodyPr wrap="square" lIns="0" tIns="0" rIns="0" bIns="0" rtlCol="0" anchor="t">
            <a:normAutofit/>
          </a:bodyPr>
          <a:lstStyle/>
          <a:p>
            <a:pPr algn="l" indent="0" marL="0">
              <a:lnSpc>
                <a:spcPct val="123000"/>
              </a:lnSpc>
              <a:buNone/>
            </a:pPr>
            <a:r>
              <a:rPr lang="en-US" sz="950" dirty="0">
                <a:solidFill>
                  <a:srgbClr val="000000"/>
                </a:solidFill>
                <a:latin typeface="Overpass" pitchFamily="34" charset="0"/>
                <a:ea typeface="Overpass" pitchFamily="34" charset="-122"/>
                <a:cs typeface="Overpass" pitchFamily="34" charset="-120"/>
              </a:rPr>
              <a:t>Analyze the Superstore sales dataset to understand business performance across sales, profit, customers, product categories, regions, shipping patterns, and discounts, and convert findings into actionable business recommendations.</a:t>
            </a:r>
            <a:endParaRPr lang="en-US" sz="950" dirty="0"/>
          </a:p>
        </p:txBody>
      </p:sp>
      <p:sp>
        <p:nvSpPr>
          <p:cNvPr id="6" name="Text 4"/>
          <p:cNvSpPr/>
          <p:nvPr/>
        </p:nvSpPr>
        <p:spPr>
          <a:xfrm>
            <a:off x="4730725" y="1093291"/>
            <a:ext cx="3894460" cy="185663"/>
          </a:xfrm>
          <a:prstGeom prst="rect">
            <a:avLst/>
          </a:prstGeom>
          <a:noFill/>
          <a:ln/>
        </p:spPr>
        <p:txBody>
          <a:bodyPr wrap="none" lIns="0" tIns="0" rIns="0" bIns="0" rtlCol="0" anchor="t"/>
          <a:lstStyle/>
          <a:p>
            <a:pPr algn="l" indent="0" marL="0">
              <a:lnSpc>
                <a:spcPct val="104000"/>
              </a:lnSpc>
              <a:buNone/>
            </a:pPr>
            <a:r>
              <a:rPr lang="en-US" sz="1150" b="1" dirty="0">
                <a:solidFill>
                  <a:srgbClr val="FFFFFF"/>
                </a:solidFill>
                <a:latin typeface="Overpass Bold" pitchFamily="34" charset="0"/>
                <a:ea typeface="Overpass Bold" pitchFamily="34" charset="-122"/>
                <a:cs typeface="Overpass Bold" pitchFamily="34" charset="-120"/>
              </a:rPr>
              <a:t>Dataset Overview</a:t>
            </a:r>
            <a:endParaRPr lang="en-US" sz="1150" dirty="0"/>
          </a:p>
        </p:txBody>
      </p:sp>
      <p:sp>
        <p:nvSpPr>
          <p:cNvPr id="7" name="Text 5"/>
          <p:cNvSpPr/>
          <p:nvPr/>
        </p:nvSpPr>
        <p:spPr>
          <a:xfrm>
            <a:off x="4730725" y="1385441"/>
            <a:ext cx="3894460" cy="750019"/>
          </a:xfrm>
          <a:prstGeom prst="rect">
            <a:avLst/>
          </a:prstGeom>
          <a:noFill/>
          <a:ln/>
        </p:spPr>
        <p:txBody>
          <a:bodyPr wrap="square" lIns="0" tIns="0" rIns="0" bIns="0" rtlCol="0" anchor="t"/>
          <a:lstStyle/>
          <a:p>
            <a:pPr algn="l" indent="0" marL="0">
              <a:lnSpc>
                <a:spcPct val="123000"/>
              </a:lnSpc>
              <a:buNone/>
            </a:pPr>
            <a:r>
              <a:rPr lang="en-US" sz="950" b="1" dirty="0">
                <a:solidFill>
                  <a:srgbClr val="E5E0DF"/>
                </a:solidFill>
                <a:latin typeface="Overpass Bold" pitchFamily="34" charset="0"/>
                <a:ea typeface="Overpass Bold" pitchFamily="34" charset="-122"/>
                <a:cs typeface="Overpass Bold" pitchFamily="34" charset="-120"/>
              </a:rPr>
              <a:t>Dataset:</a:t>
            </a:r>
            <a:pPr algn="l" indent="0" marL="0">
              <a:lnSpc>
                <a:spcPct val="123000"/>
              </a:lnSpc>
              <a:spcAft>
                <a:spcPts val="750"/>
              </a:spcAft>
              <a:buNone/>
            </a:pPr>
            <a:r>
              <a:rPr lang="en-US" sz="950" dirty="0">
                <a:solidFill>
                  <a:srgbClr val="E5E0DF"/>
                </a:solidFill>
                <a:latin typeface="Overpass" pitchFamily="34" charset="0"/>
                <a:ea typeface="Overpass" pitchFamily="34" charset="-122"/>
                <a:cs typeface="Overpass" pitchFamily="34" charset="-120"/>
              </a:rPr>
              <a:t> Sample Superstore</a:t>
            </a:r>
            <a:endParaRPr lang="en-US" sz="950" dirty="0"/>
          </a:p>
          <a:p>
            <a:pPr algn="l" indent="0" marL="0">
              <a:lnSpc>
                <a:spcPct val="123000"/>
              </a:lnSpc>
              <a:buNone/>
            </a:pPr>
            <a:r>
              <a:rPr lang="en-US" sz="950" b="1" dirty="0">
                <a:solidFill>
                  <a:srgbClr val="E5E0DF"/>
                </a:solidFill>
                <a:latin typeface="Overpass Bold" pitchFamily="34" charset="0"/>
                <a:ea typeface="Overpass Bold" pitchFamily="34" charset="-122"/>
                <a:cs typeface="Overpass Bold" pitchFamily="34" charset="-120"/>
              </a:rPr>
              <a:t>Domain:</a:t>
            </a:r>
            <a:pPr algn="l" indent="0" marL="0">
              <a:lnSpc>
                <a:spcPct val="123000"/>
              </a:lnSpc>
              <a:spcAft>
                <a:spcPts val="750"/>
              </a:spcAft>
              <a:buNone/>
            </a:pPr>
            <a:r>
              <a:rPr lang="en-US" sz="950" dirty="0">
                <a:solidFill>
                  <a:srgbClr val="E5E0DF"/>
                </a:solidFill>
                <a:latin typeface="Overpass" pitchFamily="34" charset="0"/>
                <a:ea typeface="Overpass" pitchFamily="34" charset="-122"/>
                <a:cs typeface="Overpass" pitchFamily="34" charset="-120"/>
              </a:rPr>
              <a:t> Retail / Sales / Business Analytics</a:t>
            </a:r>
            <a:endParaRPr lang="en-US" sz="950" dirty="0"/>
          </a:p>
          <a:p>
            <a:pPr algn="l" indent="0" marL="0">
              <a:lnSpc>
                <a:spcPct val="123000"/>
              </a:lnSpc>
              <a:buNone/>
            </a:pPr>
            <a:r>
              <a:rPr lang="en-US" sz="950" b="1" dirty="0">
                <a:solidFill>
                  <a:srgbClr val="E5E0DF"/>
                </a:solidFill>
                <a:latin typeface="Overpass Bold" pitchFamily="34" charset="0"/>
                <a:ea typeface="Overpass Bold" pitchFamily="34" charset="-122"/>
                <a:cs typeface="Overpass Bold" pitchFamily="34" charset="-120"/>
              </a:rPr>
              <a:t>Key fields used:</a:t>
            </a:r>
            <a:endParaRPr lang="en-US" sz="950" dirty="0"/>
          </a:p>
        </p:txBody>
      </p:sp>
      <p:sp>
        <p:nvSpPr>
          <p:cNvPr id="8" name="Text 6"/>
          <p:cNvSpPr/>
          <p:nvPr/>
        </p:nvSpPr>
        <p:spPr>
          <a:xfrm>
            <a:off x="4730725" y="2231306"/>
            <a:ext cx="3894460" cy="2419276"/>
          </a:xfrm>
          <a:prstGeom prst="rect">
            <a:avLst/>
          </a:prstGeom>
          <a:noFill/>
          <a:ln/>
        </p:spPr>
        <p:txBody>
          <a:bodyPr wrap="square" lIns="0" tIns="0" rIns="0" bIns="0" rtlCol="0" anchor="t">
            <a:normAutofit/>
          </a:bodyPr>
          <a:lstStyle/>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Order Date</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Sales</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Profit</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Discount</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Category</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Segment</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Region</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State</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Product Name</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Customer Name</a:t>
            </a:r>
            <a:endParaRPr lang="en-US" sz="950" dirty="0"/>
          </a:p>
          <a:p>
            <a:pPr algn="l" marL="193040" indent="-193040">
              <a:lnSpc>
                <a:spcPct val="123000"/>
              </a:lnSpc>
              <a:buSzPct val="100000"/>
              <a:buChar char="•"/>
            </a:pPr>
            <a:r>
              <a:rPr lang="en-US" sz="950" dirty="0">
                <a:solidFill>
                  <a:srgbClr val="E5E0DF"/>
                </a:solidFill>
                <a:latin typeface="Overpass" pitchFamily="34" charset="0"/>
                <a:ea typeface="Overpass" pitchFamily="34" charset="-122"/>
                <a:cs typeface="Overpass" pitchFamily="34" charset="-120"/>
              </a:rPr>
              <a:t>Ship Mode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3577" y="428030"/>
            <a:ext cx="8096845" cy="226814"/>
          </a:xfrm>
          <a:prstGeom prst="rect">
            <a:avLst/>
          </a:prstGeom>
          <a:noFill/>
          <a:ln/>
        </p:spPr>
        <p:txBody>
          <a:bodyPr wrap="none" lIns="0" tIns="0" rIns="0" bIns="0" rtlCol="0" anchor="t"/>
          <a:lstStyle/>
          <a:p>
            <a:pPr algn="l" indent="0" marL="0">
              <a:lnSpc>
                <a:spcPct val="104000"/>
              </a:lnSpc>
              <a:buNone/>
            </a:pPr>
            <a:r>
              <a:rPr lang="en-US" sz="1400" b="1" dirty="0">
                <a:solidFill>
                  <a:srgbClr val="FFFFFF"/>
                </a:solidFill>
                <a:latin typeface="Overpass Bold" pitchFamily="34" charset="0"/>
                <a:ea typeface="Overpass Bold" pitchFamily="34" charset="-122"/>
                <a:cs typeface="Overpass Bold" pitchFamily="34" charset="-120"/>
              </a:rPr>
              <a:t>Business Questions Explored</a:t>
            </a:r>
            <a:endParaRPr lang="en-US" sz="1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577" y="734392"/>
            <a:ext cx="8096845" cy="462855"/>
          </a:xfrm>
          <a:prstGeom prst="rect">
            <a:avLst/>
          </a:prstGeom>
        </p:spPr>
      </p:pic>
      <p:sp>
        <p:nvSpPr>
          <p:cNvPr id="4" name="Text 1"/>
          <p:cNvSpPr/>
          <p:nvPr/>
        </p:nvSpPr>
        <p:spPr>
          <a:xfrm>
            <a:off x="627087" y="893490"/>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1</a:t>
            </a:r>
            <a:endParaRPr lang="en-US" sz="900" dirty="0"/>
          </a:p>
        </p:txBody>
      </p:sp>
      <p:sp>
        <p:nvSpPr>
          <p:cNvPr id="5" name="Text 2"/>
          <p:cNvSpPr/>
          <p:nvPr/>
        </p:nvSpPr>
        <p:spPr>
          <a:xfrm>
            <a:off x="881360" y="821010"/>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product category contributes the highest sales?</a:t>
            </a:r>
            <a:endParaRPr lang="en-US" sz="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77" y="1236985"/>
            <a:ext cx="8096845" cy="462855"/>
          </a:xfrm>
          <a:prstGeom prst="rect">
            <a:avLst/>
          </a:prstGeom>
        </p:spPr>
      </p:pic>
      <p:sp>
        <p:nvSpPr>
          <p:cNvPr id="7" name="Text 3"/>
          <p:cNvSpPr/>
          <p:nvPr/>
        </p:nvSpPr>
        <p:spPr>
          <a:xfrm>
            <a:off x="627087" y="1396082"/>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2</a:t>
            </a:r>
            <a:endParaRPr lang="en-US" sz="900" dirty="0"/>
          </a:p>
        </p:txBody>
      </p:sp>
      <p:sp>
        <p:nvSpPr>
          <p:cNvPr id="8" name="Text 4"/>
          <p:cNvSpPr/>
          <p:nvPr/>
        </p:nvSpPr>
        <p:spPr>
          <a:xfrm>
            <a:off x="881360" y="1323603"/>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region generates the highest profit?</a:t>
            </a:r>
            <a:endParaRPr lang="en-US" sz="7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77" y="1739578"/>
            <a:ext cx="8096845" cy="462855"/>
          </a:xfrm>
          <a:prstGeom prst="rect">
            <a:avLst/>
          </a:prstGeom>
        </p:spPr>
      </p:pic>
      <p:sp>
        <p:nvSpPr>
          <p:cNvPr id="10" name="Text 5"/>
          <p:cNvSpPr/>
          <p:nvPr/>
        </p:nvSpPr>
        <p:spPr>
          <a:xfrm>
            <a:off x="627087" y="1898675"/>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3</a:t>
            </a:r>
            <a:endParaRPr lang="en-US" sz="900" dirty="0"/>
          </a:p>
        </p:txBody>
      </p:sp>
      <p:sp>
        <p:nvSpPr>
          <p:cNvPr id="11" name="Text 6"/>
          <p:cNvSpPr/>
          <p:nvPr/>
        </p:nvSpPr>
        <p:spPr>
          <a:xfrm>
            <a:off x="881360" y="1826196"/>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How have sales changed over time?</a:t>
            </a:r>
            <a:endParaRPr lang="en-US" sz="7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577" y="2242170"/>
            <a:ext cx="8096845" cy="462855"/>
          </a:xfrm>
          <a:prstGeom prst="rect">
            <a:avLst/>
          </a:prstGeom>
        </p:spPr>
      </p:pic>
      <p:sp>
        <p:nvSpPr>
          <p:cNvPr id="13" name="Text 7"/>
          <p:cNvSpPr/>
          <p:nvPr/>
        </p:nvSpPr>
        <p:spPr>
          <a:xfrm>
            <a:off x="627087" y="2401267"/>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4</a:t>
            </a:r>
            <a:endParaRPr lang="en-US" sz="900" dirty="0"/>
          </a:p>
        </p:txBody>
      </p:sp>
      <p:sp>
        <p:nvSpPr>
          <p:cNvPr id="14" name="Text 8"/>
          <p:cNvSpPr/>
          <p:nvPr/>
        </p:nvSpPr>
        <p:spPr>
          <a:xfrm>
            <a:off x="881360" y="2328788"/>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customer segment contributes the most revenue?</a:t>
            </a:r>
            <a:endParaRPr lang="en-US" sz="7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3577" y="2744763"/>
            <a:ext cx="8096845" cy="462855"/>
          </a:xfrm>
          <a:prstGeom prst="rect">
            <a:avLst/>
          </a:prstGeom>
        </p:spPr>
      </p:pic>
      <p:sp>
        <p:nvSpPr>
          <p:cNvPr id="16" name="Text 9"/>
          <p:cNvSpPr/>
          <p:nvPr/>
        </p:nvSpPr>
        <p:spPr>
          <a:xfrm>
            <a:off x="627087" y="2903860"/>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5</a:t>
            </a:r>
            <a:endParaRPr lang="en-US" sz="900" dirty="0"/>
          </a:p>
        </p:txBody>
      </p:sp>
      <p:sp>
        <p:nvSpPr>
          <p:cNvPr id="17" name="Text 10"/>
          <p:cNvSpPr/>
          <p:nvPr/>
        </p:nvSpPr>
        <p:spPr>
          <a:xfrm>
            <a:off x="881360" y="2831381"/>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customers and products drive the most sales?</a:t>
            </a:r>
            <a:endParaRPr lang="en-US" sz="7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3577" y="3247355"/>
            <a:ext cx="8096845" cy="462855"/>
          </a:xfrm>
          <a:prstGeom prst="rect">
            <a:avLst/>
          </a:prstGeom>
        </p:spPr>
      </p:pic>
      <p:sp>
        <p:nvSpPr>
          <p:cNvPr id="19" name="Text 11"/>
          <p:cNvSpPr/>
          <p:nvPr/>
        </p:nvSpPr>
        <p:spPr>
          <a:xfrm>
            <a:off x="627087" y="3406453"/>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6</a:t>
            </a:r>
            <a:endParaRPr lang="en-US" sz="900" dirty="0"/>
          </a:p>
        </p:txBody>
      </p:sp>
      <p:sp>
        <p:nvSpPr>
          <p:cNvPr id="20" name="Text 12"/>
          <p:cNvSpPr/>
          <p:nvPr/>
        </p:nvSpPr>
        <p:spPr>
          <a:xfrm>
            <a:off x="881360" y="3333973"/>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states are the most profitable?</a:t>
            </a:r>
            <a:endParaRPr lang="en-US" sz="700" dirty="0"/>
          </a:p>
        </p:txBody>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3577" y="3749948"/>
            <a:ext cx="8096845" cy="462855"/>
          </a:xfrm>
          <a:prstGeom prst="rect">
            <a:avLst/>
          </a:prstGeom>
        </p:spPr>
      </p:pic>
      <p:sp>
        <p:nvSpPr>
          <p:cNvPr id="22" name="Text 13"/>
          <p:cNvSpPr/>
          <p:nvPr/>
        </p:nvSpPr>
        <p:spPr>
          <a:xfrm>
            <a:off x="627087" y="3909045"/>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7</a:t>
            </a:r>
            <a:endParaRPr lang="en-US" sz="900" dirty="0"/>
          </a:p>
        </p:txBody>
      </p:sp>
      <p:sp>
        <p:nvSpPr>
          <p:cNvPr id="23" name="Text 14"/>
          <p:cNvSpPr/>
          <p:nvPr/>
        </p:nvSpPr>
        <p:spPr>
          <a:xfrm>
            <a:off x="881360" y="3836566"/>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How do discounts vary across categories?</a:t>
            </a:r>
            <a:endParaRPr lang="en-US" sz="700" dirty="0"/>
          </a:p>
        </p:txBody>
      </p:sp>
      <p:pic>
        <p:nvPicPr>
          <p:cNvPr id="24"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577" y="4252540"/>
            <a:ext cx="8096845" cy="462855"/>
          </a:xfrm>
          <a:prstGeom prst="rect">
            <a:avLst/>
          </a:prstGeom>
        </p:spPr>
      </p:pic>
      <p:sp>
        <p:nvSpPr>
          <p:cNvPr id="25" name="Text 15"/>
          <p:cNvSpPr/>
          <p:nvPr/>
        </p:nvSpPr>
        <p:spPr>
          <a:xfrm>
            <a:off x="627087" y="4411638"/>
            <a:ext cx="115714" cy="144587"/>
          </a:xfrm>
          <a:prstGeom prst="rect">
            <a:avLst/>
          </a:prstGeom>
          <a:noFill/>
          <a:ln/>
        </p:spPr>
        <p:txBody>
          <a:bodyPr wrap="none" lIns="0" tIns="0" rIns="0" bIns="0" rtlCol="0" anchor="ctr"/>
          <a:lstStyle/>
          <a:p>
            <a:pPr algn="ctr" indent="0" marL="0">
              <a:lnSpc>
                <a:spcPct val="100000"/>
              </a:lnSpc>
              <a:buNone/>
            </a:pPr>
            <a:r>
              <a:rPr lang="en-US" sz="900" b="1" dirty="0">
                <a:solidFill>
                  <a:srgbClr val="E5E0DF"/>
                </a:solidFill>
                <a:latin typeface="Overpass Bold" pitchFamily="34" charset="0"/>
                <a:ea typeface="Overpass Bold" pitchFamily="34" charset="-122"/>
                <a:cs typeface="Overpass Bold" pitchFamily="34" charset="-120"/>
              </a:rPr>
              <a:t>8</a:t>
            </a:r>
            <a:endParaRPr lang="en-US" sz="900" dirty="0"/>
          </a:p>
        </p:txBody>
      </p:sp>
      <p:sp>
        <p:nvSpPr>
          <p:cNvPr id="26" name="Text 16"/>
          <p:cNvSpPr/>
          <p:nvPr/>
        </p:nvSpPr>
        <p:spPr>
          <a:xfrm>
            <a:off x="881360" y="4339158"/>
            <a:ext cx="7652445" cy="113481"/>
          </a:xfrm>
          <a:prstGeom prst="rect">
            <a:avLst/>
          </a:prstGeom>
          <a:noFill/>
          <a:ln/>
        </p:spPr>
        <p:txBody>
          <a:bodyPr wrap="none" lIns="0" tIns="0" rIns="0" bIns="0" rtlCol="0" anchor="t"/>
          <a:lstStyle/>
          <a:p>
            <a:pPr algn="l" indent="0" marL="0">
              <a:lnSpc>
                <a:spcPct val="104000"/>
              </a:lnSpc>
              <a:buNone/>
            </a:pPr>
            <a:r>
              <a:rPr lang="en-US" sz="700" b="1" dirty="0">
                <a:solidFill>
                  <a:srgbClr val="E5E0DF"/>
                </a:solidFill>
                <a:latin typeface="Overpass Bold" pitchFamily="34" charset="0"/>
                <a:ea typeface="Overpass Bold" pitchFamily="34" charset="-122"/>
                <a:cs typeface="Overpass Bold" pitchFamily="34" charset="-120"/>
              </a:rPr>
              <a:t>Which shipping mode is most commonly used?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503337"/>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Overall Business Performance</a:t>
            </a:r>
            <a:endParaRPr lang="en-US" sz="2750" dirty="0"/>
          </a:p>
        </p:txBody>
      </p:sp>
      <p:sp>
        <p:nvSpPr>
          <p:cNvPr id="3" name="Text 1"/>
          <p:cNvSpPr/>
          <p:nvPr/>
        </p:nvSpPr>
        <p:spPr>
          <a:xfrm>
            <a:off x="523577" y="1317352"/>
            <a:ext cx="3954884" cy="493737"/>
          </a:xfrm>
          <a:prstGeom prst="rect">
            <a:avLst/>
          </a:prstGeom>
          <a:noFill/>
          <a:ln/>
        </p:spPr>
        <p:txBody>
          <a:bodyPr wrap="none" lIns="0" tIns="0" rIns="0" bIns="0" rtlCol="0" anchor="t"/>
          <a:lstStyle/>
          <a:p>
            <a:pPr algn="ctr" indent="0" marL="0">
              <a:lnSpc>
                <a:spcPct val="83000"/>
              </a:lnSpc>
              <a:buNone/>
            </a:pPr>
            <a:r>
              <a:rPr lang="en-US" sz="3850" b="1" dirty="0">
                <a:solidFill>
                  <a:srgbClr val="E5E0DF"/>
                </a:solidFill>
                <a:latin typeface="Overpass Bold" pitchFamily="34" charset="0"/>
                <a:ea typeface="Overpass Bold" pitchFamily="34" charset="-122"/>
                <a:cs typeface="Overpass Bold" pitchFamily="34" charset="-120"/>
              </a:rPr>
              <a:t>2.30M</a:t>
            </a:r>
            <a:endParaRPr lang="en-US" sz="3850" dirty="0"/>
          </a:p>
        </p:txBody>
      </p:sp>
      <p:sp>
        <p:nvSpPr>
          <p:cNvPr id="4" name="Text 2"/>
          <p:cNvSpPr/>
          <p:nvPr/>
        </p:nvSpPr>
        <p:spPr>
          <a:xfrm>
            <a:off x="523577" y="1998018"/>
            <a:ext cx="3954884" cy="219968"/>
          </a:xfrm>
          <a:prstGeom prst="rect">
            <a:avLst/>
          </a:prstGeom>
          <a:noFill/>
          <a:ln/>
        </p:spPr>
        <p:txBody>
          <a:bodyPr wrap="none" lIns="0" tIns="0" rIns="0" bIns="0" rtlCol="0" anchor="t"/>
          <a:lstStyle/>
          <a:p>
            <a:pPr algn="ctr" indent="0" marL="0">
              <a:lnSpc>
                <a:spcPct val="104000"/>
              </a:lnSpc>
              <a:buNone/>
            </a:pPr>
            <a:r>
              <a:rPr lang="en-US" sz="1350" b="1" dirty="0">
                <a:solidFill>
                  <a:srgbClr val="E5E0DF"/>
                </a:solidFill>
                <a:latin typeface="Overpass Bold" pitchFamily="34" charset="0"/>
                <a:ea typeface="Overpass Bold" pitchFamily="34" charset="-122"/>
                <a:cs typeface="Overpass Bold" pitchFamily="34" charset="-120"/>
              </a:rPr>
              <a:t>Total Sales</a:t>
            </a:r>
            <a:endParaRPr lang="en-US" sz="1350" dirty="0"/>
          </a:p>
        </p:txBody>
      </p:sp>
      <p:sp>
        <p:nvSpPr>
          <p:cNvPr id="5" name="Text 3"/>
          <p:cNvSpPr/>
          <p:nvPr/>
        </p:nvSpPr>
        <p:spPr>
          <a:xfrm>
            <a:off x="4665464" y="1317352"/>
            <a:ext cx="3954959" cy="493737"/>
          </a:xfrm>
          <a:prstGeom prst="rect">
            <a:avLst/>
          </a:prstGeom>
          <a:noFill/>
          <a:ln/>
        </p:spPr>
        <p:txBody>
          <a:bodyPr wrap="none" lIns="0" tIns="0" rIns="0" bIns="0" rtlCol="0" anchor="t"/>
          <a:lstStyle/>
          <a:p>
            <a:pPr algn="ctr" indent="0" marL="0">
              <a:lnSpc>
                <a:spcPct val="83000"/>
              </a:lnSpc>
              <a:buNone/>
            </a:pPr>
            <a:r>
              <a:rPr lang="en-US" sz="3850" b="1" dirty="0">
                <a:solidFill>
                  <a:srgbClr val="E5E0DF"/>
                </a:solidFill>
                <a:latin typeface="Overpass Bold" pitchFamily="34" charset="0"/>
                <a:ea typeface="Overpass Bold" pitchFamily="34" charset="-122"/>
                <a:cs typeface="Overpass Bold" pitchFamily="34" charset="-120"/>
              </a:rPr>
              <a:t>286.40K</a:t>
            </a:r>
            <a:endParaRPr lang="en-US" sz="3850" dirty="0"/>
          </a:p>
        </p:txBody>
      </p:sp>
      <p:sp>
        <p:nvSpPr>
          <p:cNvPr id="6" name="Text 4"/>
          <p:cNvSpPr/>
          <p:nvPr/>
        </p:nvSpPr>
        <p:spPr>
          <a:xfrm>
            <a:off x="4665464" y="1998018"/>
            <a:ext cx="3954959" cy="219968"/>
          </a:xfrm>
          <a:prstGeom prst="rect">
            <a:avLst/>
          </a:prstGeom>
          <a:noFill/>
          <a:ln/>
        </p:spPr>
        <p:txBody>
          <a:bodyPr wrap="none" lIns="0" tIns="0" rIns="0" bIns="0" rtlCol="0" anchor="t"/>
          <a:lstStyle/>
          <a:p>
            <a:pPr algn="ctr" indent="0" marL="0">
              <a:lnSpc>
                <a:spcPct val="104000"/>
              </a:lnSpc>
              <a:buNone/>
            </a:pPr>
            <a:r>
              <a:rPr lang="en-US" sz="1350" b="1" dirty="0">
                <a:solidFill>
                  <a:srgbClr val="E5E0DF"/>
                </a:solidFill>
                <a:latin typeface="Overpass Bold" pitchFamily="34" charset="0"/>
                <a:ea typeface="Overpass Bold" pitchFamily="34" charset="-122"/>
                <a:cs typeface="Overpass Bold" pitchFamily="34" charset="-120"/>
              </a:rPr>
              <a:t>Total Profit</a:t>
            </a:r>
            <a:endParaRPr lang="en-US" sz="1350" dirty="0"/>
          </a:p>
        </p:txBody>
      </p:sp>
      <p:sp>
        <p:nvSpPr>
          <p:cNvPr id="7" name="Text 5"/>
          <p:cNvSpPr/>
          <p:nvPr/>
        </p:nvSpPr>
        <p:spPr>
          <a:xfrm>
            <a:off x="523577" y="2591991"/>
            <a:ext cx="3954884" cy="493737"/>
          </a:xfrm>
          <a:prstGeom prst="rect">
            <a:avLst/>
          </a:prstGeom>
          <a:noFill/>
          <a:ln/>
        </p:spPr>
        <p:txBody>
          <a:bodyPr wrap="none" lIns="0" tIns="0" rIns="0" bIns="0" rtlCol="0" anchor="t"/>
          <a:lstStyle/>
          <a:p>
            <a:pPr algn="ctr" indent="0" marL="0">
              <a:lnSpc>
                <a:spcPct val="83000"/>
              </a:lnSpc>
              <a:buNone/>
            </a:pPr>
            <a:r>
              <a:rPr lang="en-US" sz="3850" b="1" dirty="0">
                <a:solidFill>
                  <a:srgbClr val="E5E0DF"/>
                </a:solidFill>
                <a:latin typeface="Overpass Bold" pitchFamily="34" charset="0"/>
                <a:ea typeface="Overpass Bold" pitchFamily="34" charset="-122"/>
                <a:cs typeface="Overpass Bold" pitchFamily="34" charset="-120"/>
              </a:rPr>
              <a:t>5.009K</a:t>
            </a:r>
            <a:endParaRPr lang="en-US" sz="3850" dirty="0"/>
          </a:p>
        </p:txBody>
      </p:sp>
      <p:sp>
        <p:nvSpPr>
          <p:cNvPr id="8" name="Text 6"/>
          <p:cNvSpPr/>
          <p:nvPr/>
        </p:nvSpPr>
        <p:spPr>
          <a:xfrm>
            <a:off x="523577" y="3272656"/>
            <a:ext cx="3954884" cy="219968"/>
          </a:xfrm>
          <a:prstGeom prst="rect">
            <a:avLst/>
          </a:prstGeom>
          <a:noFill/>
          <a:ln/>
        </p:spPr>
        <p:txBody>
          <a:bodyPr wrap="none" lIns="0" tIns="0" rIns="0" bIns="0" rtlCol="0" anchor="t"/>
          <a:lstStyle/>
          <a:p>
            <a:pPr algn="ctr" indent="0" marL="0">
              <a:lnSpc>
                <a:spcPct val="104000"/>
              </a:lnSpc>
              <a:buNone/>
            </a:pPr>
            <a:r>
              <a:rPr lang="en-US" sz="1350" b="1" dirty="0">
                <a:solidFill>
                  <a:srgbClr val="E5E0DF"/>
                </a:solidFill>
                <a:latin typeface="Overpass Bold" pitchFamily="34" charset="0"/>
                <a:ea typeface="Overpass Bold" pitchFamily="34" charset="-122"/>
                <a:cs typeface="Overpass Bold" pitchFamily="34" charset="-120"/>
              </a:rPr>
              <a:t>Total Orders</a:t>
            </a:r>
            <a:endParaRPr lang="en-US" sz="1350" dirty="0"/>
          </a:p>
        </p:txBody>
      </p:sp>
      <p:sp>
        <p:nvSpPr>
          <p:cNvPr id="9" name="Text 7"/>
          <p:cNvSpPr/>
          <p:nvPr/>
        </p:nvSpPr>
        <p:spPr>
          <a:xfrm>
            <a:off x="4665464" y="2591991"/>
            <a:ext cx="3954959" cy="493737"/>
          </a:xfrm>
          <a:prstGeom prst="rect">
            <a:avLst/>
          </a:prstGeom>
          <a:noFill/>
          <a:ln/>
        </p:spPr>
        <p:txBody>
          <a:bodyPr wrap="none" lIns="0" tIns="0" rIns="0" bIns="0" rtlCol="0" anchor="t"/>
          <a:lstStyle/>
          <a:p>
            <a:pPr algn="ctr" indent="0" marL="0">
              <a:lnSpc>
                <a:spcPct val="83000"/>
              </a:lnSpc>
              <a:buNone/>
            </a:pPr>
            <a:r>
              <a:rPr lang="en-US" sz="3850" b="1" dirty="0">
                <a:solidFill>
                  <a:srgbClr val="E5E0DF"/>
                </a:solidFill>
                <a:latin typeface="Overpass Bold" pitchFamily="34" charset="0"/>
                <a:ea typeface="Overpass Bold" pitchFamily="34" charset="-122"/>
                <a:cs typeface="Overpass Bold" pitchFamily="34" charset="-120"/>
              </a:rPr>
              <a:t>793</a:t>
            </a:r>
            <a:endParaRPr lang="en-US" sz="3850" dirty="0"/>
          </a:p>
        </p:txBody>
      </p:sp>
      <p:sp>
        <p:nvSpPr>
          <p:cNvPr id="10" name="Text 8"/>
          <p:cNvSpPr/>
          <p:nvPr/>
        </p:nvSpPr>
        <p:spPr>
          <a:xfrm>
            <a:off x="4665464" y="3272656"/>
            <a:ext cx="3954959" cy="219968"/>
          </a:xfrm>
          <a:prstGeom prst="rect">
            <a:avLst/>
          </a:prstGeom>
          <a:noFill/>
          <a:ln/>
        </p:spPr>
        <p:txBody>
          <a:bodyPr wrap="none" lIns="0" tIns="0" rIns="0" bIns="0" rtlCol="0" anchor="t"/>
          <a:lstStyle/>
          <a:p>
            <a:pPr algn="ctr" indent="0" marL="0">
              <a:lnSpc>
                <a:spcPct val="104000"/>
              </a:lnSpc>
              <a:buNone/>
            </a:pPr>
            <a:r>
              <a:rPr lang="en-US" sz="1350" b="1" dirty="0">
                <a:solidFill>
                  <a:srgbClr val="E5E0DF"/>
                </a:solidFill>
                <a:latin typeface="Overpass Bold" pitchFamily="34" charset="0"/>
                <a:ea typeface="Overpass Bold" pitchFamily="34" charset="-122"/>
                <a:cs typeface="Overpass Bold" pitchFamily="34" charset="-120"/>
              </a:rPr>
              <a:t>Total Customers</a:t>
            </a:r>
            <a:endParaRPr lang="en-US" sz="1350" dirty="0"/>
          </a:p>
        </p:txBody>
      </p:sp>
      <p:sp>
        <p:nvSpPr>
          <p:cNvPr id="11" name="Text 9"/>
          <p:cNvSpPr/>
          <p:nvPr/>
        </p:nvSpPr>
        <p:spPr>
          <a:xfrm>
            <a:off x="523577" y="3716982"/>
            <a:ext cx="8096845"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Interpretation</a:t>
            </a:r>
            <a:endParaRPr lang="en-US" sz="1350" dirty="0"/>
          </a:p>
        </p:txBody>
      </p:sp>
      <p:sp>
        <p:nvSpPr>
          <p:cNvPr id="12" name="Text 10"/>
          <p:cNvSpPr/>
          <p:nvPr/>
        </p:nvSpPr>
        <p:spPr>
          <a:xfrm>
            <a:off x="523577" y="4161309"/>
            <a:ext cx="8096845" cy="478780"/>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The business generated strong sales with a healthy profit and a broad customer base. This provides a strong foundation for identifying high-performing categories, regions, and customer groups.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800100"/>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Category &amp; Regional Performance</a:t>
            </a:r>
            <a:endParaRPr lang="en-US" sz="2750" dirty="0"/>
          </a:p>
        </p:txBody>
      </p:sp>
      <p:sp>
        <p:nvSpPr>
          <p:cNvPr id="3" name="Text 1"/>
          <p:cNvSpPr/>
          <p:nvPr/>
        </p:nvSpPr>
        <p:spPr>
          <a:xfrm>
            <a:off x="523577" y="1614041"/>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Sales by Category</a:t>
            </a:r>
            <a:endParaRPr lang="en-US" sz="1350" dirty="0"/>
          </a:p>
        </p:txBody>
      </p:sp>
      <p:sp>
        <p:nvSpPr>
          <p:cNvPr id="4" name="Text 2"/>
          <p:cNvSpPr/>
          <p:nvPr/>
        </p:nvSpPr>
        <p:spPr>
          <a:xfrm>
            <a:off x="523577" y="1983581"/>
            <a:ext cx="3865959" cy="82279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Technology generated the highest sales.</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Furniture ranked second.</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Office Supplies followed closely behind.</a:t>
            </a:r>
            <a:endParaRPr lang="en-US" sz="1150" dirty="0"/>
          </a:p>
        </p:txBody>
      </p:sp>
      <p:sp>
        <p:nvSpPr>
          <p:cNvPr id="5" name="Text 3"/>
          <p:cNvSpPr/>
          <p:nvPr/>
        </p:nvSpPr>
        <p:spPr>
          <a:xfrm>
            <a:off x="4759226" y="1614041"/>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Profit by Region</a:t>
            </a:r>
            <a:endParaRPr lang="en-US" sz="1350" dirty="0"/>
          </a:p>
        </p:txBody>
      </p:sp>
      <p:sp>
        <p:nvSpPr>
          <p:cNvPr id="6" name="Text 4"/>
          <p:cNvSpPr/>
          <p:nvPr/>
        </p:nvSpPr>
        <p:spPr>
          <a:xfrm>
            <a:off x="4759226" y="1983581"/>
            <a:ext cx="3865959" cy="106218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West region generated the highest profit.</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East was the second most profitable region.</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South and Central delivered comparatively lower profit.</a:t>
            </a:r>
            <a:endParaRPr lang="en-US" sz="1150" dirty="0"/>
          </a:p>
        </p:txBody>
      </p:sp>
      <p:sp>
        <p:nvSpPr>
          <p:cNvPr id="7" name="Shape 5"/>
          <p:cNvSpPr/>
          <p:nvPr/>
        </p:nvSpPr>
        <p:spPr>
          <a:xfrm>
            <a:off x="523577" y="3266331"/>
            <a:ext cx="8096845" cy="1077069"/>
          </a:xfrm>
          <a:prstGeom prst="roundRect">
            <a:avLst>
              <a:gd name="adj" fmla="val 5834"/>
            </a:avLst>
          </a:prstGeom>
          <a:solidFill>
            <a:srgbClr val="7E023C"/>
          </a:solidFill>
          <a:ln/>
        </p:spPr>
      </p:sp>
      <p:pic>
        <p:nvPicPr>
          <p:cNvPr id="8" name="Image 0" descr="preencoded.png">    </p:cNvPr>
          <p:cNvPicPr>
            <a:picLocks noChangeAspect="1"/>
          </p:cNvPicPr>
          <p:nvPr/>
        </p:nvPicPr>
        <p:blipFill>
          <a:blip r:embed="rId1"/>
          <a:stretch>
            <a:fillRect/>
          </a:stretch>
        </p:blipFill>
        <p:spPr>
          <a:xfrm>
            <a:off x="673150" y="3484290"/>
            <a:ext cx="187003" cy="149572"/>
          </a:xfrm>
          <a:prstGeom prst="rect">
            <a:avLst/>
          </a:prstGeom>
        </p:spPr>
      </p:pic>
      <p:sp>
        <p:nvSpPr>
          <p:cNvPr id="9" name="Text 6"/>
          <p:cNvSpPr/>
          <p:nvPr/>
        </p:nvSpPr>
        <p:spPr>
          <a:xfrm>
            <a:off x="1009724" y="3453259"/>
            <a:ext cx="7461126" cy="718170"/>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FFFFFF"/>
                </a:solidFill>
                <a:latin typeface="Overpass Bold" pitchFamily="34" charset="0"/>
                <a:ea typeface="Overpass Bold" pitchFamily="34" charset="-122"/>
                <a:cs typeface="Overpass Bold" pitchFamily="34" charset="-120"/>
              </a:rPr>
              <a:t>Business Insight:</a:t>
            </a:r>
            <a:pPr algn="l" indent="0" marL="0">
              <a:lnSpc>
                <a:spcPct val="133000"/>
              </a:lnSpc>
              <a:buNone/>
            </a:pPr>
            <a:r>
              <a:rPr lang="en-US" sz="1150" dirty="0">
                <a:solidFill>
                  <a:srgbClr val="FFFFFF"/>
                </a:solidFill>
                <a:latin typeface="Overpass" pitchFamily="34" charset="0"/>
                <a:ea typeface="Overpass" pitchFamily="34" charset="-122"/>
                <a:cs typeface="Overpass" pitchFamily="34" charset="-120"/>
              </a:rPr>
              <a:t> Technology is the strongest sales driver, while the West region is the most profitable market. The company should strengthen technology-focused strategies and study the West region's performance model for replication in weaker regions.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52577" y="463228"/>
            <a:ext cx="4667845" cy="824954"/>
          </a:xfrm>
          <a:prstGeom prst="rect">
            <a:avLst/>
          </a:prstGeom>
          <a:noFill/>
          <a:ln/>
        </p:spPr>
        <p:txBody>
          <a:bodyPr wrap="square" lIns="0" tIns="0" rIns="0" bIns="0" rtlCol="0" anchor="t">
            <a:normAutofit/>
          </a:bodyPr>
          <a:lstStyle/>
          <a:p>
            <a:pPr algn="l" indent="0" marL="0">
              <a:lnSpc>
                <a:spcPct val="104000"/>
              </a:lnSpc>
              <a:buNone/>
            </a:pPr>
            <a:r>
              <a:rPr lang="en-US" sz="2550" b="1" dirty="0">
                <a:solidFill>
                  <a:srgbClr val="FFFFFF"/>
                </a:solidFill>
                <a:latin typeface="Overpass Bold" pitchFamily="34" charset="0"/>
                <a:ea typeface="Overpass Bold" pitchFamily="34" charset="-122"/>
                <a:cs typeface="Overpass Bold" pitchFamily="34" charset="-120"/>
              </a:rPr>
              <a:t>Monthly Sales Trend (2014–2017)</a:t>
            </a:r>
            <a:endParaRPr lang="en-US" sz="2550" dirty="0"/>
          </a:p>
        </p:txBody>
      </p:sp>
      <p:sp>
        <p:nvSpPr>
          <p:cNvPr id="4" name="Text 1"/>
          <p:cNvSpPr/>
          <p:nvPr/>
        </p:nvSpPr>
        <p:spPr>
          <a:xfrm>
            <a:off x="3952577" y="1340718"/>
            <a:ext cx="4667845" cy="206276"/>
          </a:xfrm>
          <a:prstGeom prst="rect">
            <a:avLst/>
          </a:prstGeom>
          <a:noFill/>
          <a:ln/>
        </p:spPr>
        <p:txBody>
          <a:bodyPr wrap="none" lIns="0" tIns="0" rIns="0" bIns="0" rtlCol="0" anchor="t"/>
          <a:lstStyle/>
          <a:p>
            <a:pPr algn="l" indent="0" marL="0">
              <a:lnSpc>
                <a:spcPct val="104000"/>
              </a:lnSpc>
              <a:buNone/>
            </a:pPr>
            <a:r>
              <a:rPr lang="en-US" sz="1250" b="1" dirty="0">
                <a:solidFill>
                  <a:srgbClr val="FFFFFF"/>
                </a:solidFill>
                <a:latin typeface="Overpass Bold" pitchFamily="34" charset="0"/>
                <a:ea typeface="Overpass Bold" pitchFamily="34" charset="-122"/>
                <a:cs typeface="Overpass Bold" pitchFamily="34" charset="-120"/>
              </a:rPr>
              <a:t>Key Observations</a:t>
            </a:r>
            <a:endParaRPr lang="en-US" sz="12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05188" y="1751075"/>
            <a:ext cx="210369" cy="210369"/>
          </a:xfrm>
          <a:prstGeom prst="rect">
            <a:avLst/>
          </a:prstGeom>
        </p:spPr>
      </p:pic>
      <p:sp>
        <p:nvSpPr>
          <p:cNvPr id="6" name="Text 2"/>
          <p:cNvSpPr/>
          <p:nvPr/>
        </p:nvSpPr>
        <p:spPr>
          <a:xfrm>
            <a:off x="4408363" y="1744191"/>
            <a:ext cx="4212059" cy="434727"/>
          </a:xfrm>
          <a:prstGeom prst="rect">
            <a:avLst/>
          </a:prstGeom>
          <a:noFill/>
          <a:ln/>
        </p:spPr>
        <p:txBody>
          <a:bodyPr wrap="square" lIns="0" tIns="0" rIns="0" bIns="0" rtlCol="0" anchor="t">
            <a:normAutofit/>
          </a:bodyPr>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Sales vary month to month, indicating seasonal or demand-based changes.</a:t>
            </a:r>
            <a:endParaRPr lang="en-US" sz="11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05188" y="2448781"/>
            <a:ext cx="210369" cy="210369"/>
          </a:xfrm>
          <a:prstGeom prst="rect">
            <a:avLst/>
          </a:prstGeom>
        </p:spPr>
      </p:pic>
      <p:sp>
        <p:nvSpPr>
          <p:cNvPr id="8" name="Text 3"/>
          <p:cNvSpPr/>
          <p:nvPr/>
        </p:nvSpPr>
        <p:spPr>
          <a:xfrm>
            <a:off x="4408363" y="2441897"/>
            <a:ext cx="4212059" cy="217363"/>
          </a:xfrm>
          <a:prstGeom prst="rect">
            <a:avLst/>
          </a:prstGeom>
          <a:noFill/>
          <a:ln/>
        </p:spPr>
        <p:txBody>
          <a:bodyPr wrap="none" lIns="0" tIns="0" rIns="0" bIns="0" rtlCol="0" anchor="t"/>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Multiple high peaks are visible in the later years.</a:t>
            </a:r>
            <a:endParaRPr lang="en-US" sz="11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05188" y="3139492"/>
            <a:ext cx="210369" cy="210369"/>
          </a:xfrm>
          <a:prstGeom prst="rect">
            <a:avLst/>
          </a:prstGeom>
        </p:spPr>
      </p:pic>
      <p:sp>
        <p:nvSpPr>
          <p:cNvPr id="10" name="Text 4"/>
          <p:cNvSpPr/>
          <p:nvPr/>
        </p:nvSpPr>
        <p:spPr>
          <a:xfrm>
            <a:off x="4408363" y="3132609"/>
            <a:ext cx="4212059" cy="217363"/>
          </a:xfrm>
          <a:prstGeom prst="rect">
            <a:avLst/>
          </a:prstGeom>
          <a:noFill/>
          <a:ln/>
        </p:spPr>
        <p:txBody>
          <a:bodyPr wrap="none" lIns="0" tIns="0" rIns="0" bIns="0" rtlCol="0" anchor="t"/>
          <a:lstStyle/>
          <a:p>
            <a:pPr algn="l" indent="0" marL="0">
              <a:lnSpc>
                <a:spcPct val="129000"/>
              </a:lnSpc>
              <a:buNone/>
            </a:pPr>
            <a:r>
              <a:rPr lang="en-US" sz="1100" dirty="0">
                <a:solidFill>
                  <a:srgbClr val="E5E0DF"/>
                </a:solidFill>
                <a:latin typeface="Overpass" pitchFamily="34" charset="0"/>
                <a:ea typeface="Overpass" pitchFamily="34" charset="-122"/>
                <a:cs typeface="Overpass" pitchFamily="34" charset="-120"/>
              </a:rPr>
              <a:t>Sales performance appears stronger closer to 2017.</a:t>
            </a:r>
            <a:endParaRPr lang="en-US" sz="1100" dirty="0"/>
          </a:p>
        </p:txBody>
      </p:sp>
      <p:sp>
        <p:nvSpPr>
          <p:cNvPr id="11" name="Shape 5"/>
          <p:cNvSpPr/>
          <p:nvPr/>
        </p:nvSpPr>
        <p:spPr>
          <a:xfrm>
            <a:off x="3952577" y="3708202"/>
            <a:ext cx="4667845" cy="971996"/>
          </a:xfrm>
          <a:prstGeom prst="roundRect">
            <a:avLst>
              <a:gd name="adj" fmla="val 6061"/>
            </a:avLst>
          </a:prstGeom>
          <a:solidFill>
            <a:srgbClr val="7E023C"/>
          </a:solidFill>
          <a:ln/>
        </p:spPr>
      </p:sp>
      <p:pic>
        <p:nvPicPr>
          <p:cNvPr id="12" name="Image 4" descr="preencoded.png">    </p:cNvPr>
          <p:cNvPicPr>
            <a:picLocks noChangeAspect="1"/>
          </p:cNvPicPr>
          <p:nvPr/>
        </p:nvPicPr>
        <p:blipFill>
          <a:blip r:embed="rId8"/>
          <a:stretch>
            <a:fillRect/>
          </a:stretch>
        </p:blipFill>
        <p:spPr>
          <a:xfrm>
            <a:off x="4092773" y="3903613"/>
            <a:ext cx="175320" cy="140196"/>
          </a:xfrm>
          <a:prstGeom prst="rect">
            <a:avLst/>
          </a:prstGeom>
        </p:spPr>
      </p:pic>
      <p:sp>
        <p:nvSpPr>
          <p:cNvPr id="13" name="Text 6"/>
          <p:cNvSpPr/>
          <p:nvPr/>
        </p:nvSpPr>
        <p:spPr>
          <a:xfrm>
            <a:off x="4408289" y="3874740"/>
            <a:ext cx="4071938" cy="652090"/>
          </a:xfrm>
          <a:prstGeom prst="rect">
            <a:avLst/>
          </a:prstGeom>
          <a:noFill/>
          <a:ln/>
        </p:spPr>
        <p:txBody>
          <a:bodyPr wrap="square" lIns="0" tIns="0" rIns="0" bIns="0" rtlCol="0" anchor="t">
            <a:normAutofit/>
          </a:bodyPr>
          <a:lstStyle/>
          <a:p>
            <a:pPr algn="l" indent="0" marL="0">
              <a:lnSpc>
                <a:spcPct val="129000"/>
              </a:lnSpc>
              <a:buNone/>
            </a:pPr>
            <a:r>
              <a:rPr lang="en-US" sz="1100" b="1" dirty="0">
                <a:solidFill>
                  <a:srgbClr val="FFFFFF"/>
                </a:solidFill>
                <a:latin typeface="Overpass Bold" pitchFamily="34" charset="0"/>
                <a:ea typeface="Overpass Bold" pitchFamily="34" charset="-122"/>
                <a:cs typeface="Overpass Bold" pitchFamily="34" charset="-120"/>
              </a:rPr>
              <a:t>Business Insight:</a:t>
            </a:r>
            <a:pPr algn="l" indent="0" marL="0">
              <a:lnSpc>
                <a:spcPct val="129000"/>
              </a:lnSpc>
              <a:buNone/>
            </a:pPr>
            <a:r>
              <a:rPr lang="en-US" sz="1100" dirty="0">
                <a:solidFill>
                  <a:srgbClr val="FFFFFF"/>
                </a:solidFill>
                <a:latin typeface="Overpass" pitchFamily="34" charset="0"/>
                <a:ea typeface="Overpass" pitchFamily="34" charset="-122"/>
                <a:cs typeface="Overpass" pitchFamily="34" charset="-120"/>
              </a:rPr>
              <a:t> The business is showing long-term growth. Understanding peak sales periods can help in planning inventory, promotions, and seasonal campaigns more effectively.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586904"/>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Segment &amp; Customer Analysis</a:t>
            </a:r>
            <a:endParaRPr lang="en-US" sz="2750" dirty="0"/>
          </a:p>
        </p:txBody>
      </p:sp>
      <p:sp>
        <p:nvSpPr>
          <p:cNvPr id="3" name="Text 1"/>
          <p:cNvSpPr/>
          <p:nvPr/>
        </p:nvSpPr>
        <p:spPr>
          <a:xfrm>
            <a:off x="523577" y="1400845"/>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Sales by Segment</a:t>
            </a:r>
            <a:endParaRPr lang="en-US" sz="1350" dirty="0"/>
          </a:p>
        </p:txBody>
      </p:sp>
      <p:sp>
        <p:nvSpPr>
          <p:cNvPr id="4" name="Text 2"/>
          <p:cNvSpPr/>
          <p:nvPr/>
        </p:nvSpPr>
        <p:spPr>
          <a:xfrm>
            <a:off x="523577" y="1770385"/>
            <a:ext cx="3865959" cy="106218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Consumer segment contributes the highest share of sales.</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Corporate is the second-largest contributor.</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Home Office contributes the least.</a:t>
            </a:r>
            <a:endParaRPr lang="en-US" sz="1150" dirty="0"/>
          </a:p>
        </p:txBody>
      </p:sp>
      <p:sp>
        <p:nvSpPr>
          <p:cNvPr id="5" name="Text 3"/>
          <p:cNvSpPr/>
          <p:nvPr/>
        </p:nvSpPr>
        <p:spPr>
          <a:xfrm>
            <a:off x="4759226" y="1400845"/>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Top Customers by Sales</a:t>
            </a:r>
            <a:endParaRPr lang="en-US" sz="1350" dirty="0"/>
          </a:p>
        </p:txBody>
      </p:sp>
      <p:sp>
        <p:nvSpPr>
          <p:cNvPr id="6" name="Text 4"/>
          <p:cNvSpPr/>
          <p:nvPr/>
        </p:nvSpPr>
        <p:spPr>
          <a:xfrm>
            <a:off x="4759226" y="1770385"/>
            <a:ext cx="4323159"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Some of the top customers include:</a:t>
            </a:r>
            <a:endParaRPr lang="en-US" sz="1150" dirty="0"/>
          </a:p>
        </p:txBody>
      </p:sp>
      <p:sp>
        <p:nvSpPr>
          <p:cNvPr id="7" name="Text 5"/>
          <p:cNvSpPr/>
          <p:nvPr/>
        </p:nvSpPr>
        <p:spPr>
          <a:xfrm>
            <a:off x="4759226" y="2144390"/>
            <a:ext cx="3865959" cy="1114499"/>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Sean Miller</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Tamara Chand</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Raymond Buch</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Tom Ashbrook</a:t>
            </a:r>
            <a:endParaRPr lang="en-US" sz="1150" dirty="0"/>
          </a:p>
        </p:txBody>
      </p:sp>
      <p:sp>
        <p:nvSpPr>
          <p:cNvPr id="8" name="Shape 6"/>
          <p:cNvSpPr/>
          <p:nvPr/>
        </p:nvSpPr>
        <p:spPr>
          <a:xfrm>
            <a:off x="523577" y="3479453"/>
            <a:ext cx="8096845" cy="1077069"/>
          </a:xfrm>
          <a:prstGeom prst="roundRect">
            <a:avLst>
              <a:gd name="adj" fmla="val 5834"/>
            </a:avLst>
          </a:prstGeom>
          <a:solidFill>
            <a:srgbClr val="7E023C"/>
          </a:solidFill>
          <a:ln/>
        </p:spPr>
      </p:sp>
      <p:pic>
        <p:nvPicPr>
          <p:cNvPr id="9" name="Image 0" descr="preencoded.png">    </p:cNvPr>
          <p:cNvPicPr>
            <a:picLocks noChangeAspect="1"/>
          </p:cNvPicPr>
          <p:nvPr/>
        </p:nvPicPr>
        <p:blipFill>
          <a:blip r:embed="rId1"/>
          <a:stretch>
            <a:fillRect/>
          </a:stretch>
        </p:blipFill>
        <p:spPr>
          <a:xfrm>
            <a:off x="673150" y="3697412"/>
            <a:ext cx="187003" cy="149572"/>
          </a:xfrm>
          <a:prstGeom prst="rect">
            <a:avLst/>
          </a:prstGeom>
        </p:spPr>
      </p:pic>
      <p:sp>
        <p:nvSpPr>
          <p:cNvPr id="10" name="Text 7"/>
          <p:cNvSpPr/>
          <p:nvPr/>
        </p:nvSpPr>
        <p:spPr>
          <a:xfrm>
            <a:off x="1009724" y="3666381"/>
            <a:ext cx="7461126" cy="718170"/>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FFFFFF"/>
                </a:solidFill>
                <a:latin typeface="Overpass Bold" pitchFamily="34" charset="0"/>
                <a:ea typeface="Overpass Bold" pitchFamily="34" charset="-122"/>
                <a:cs typeface="Overpass Bold" pitchFamily="34" charset="-120"/>
              </a:rPr>
              <a:t>Business Insight:</a:t>
            </a:r>
            <a:pPr algn="l" indent="0" marL="0">
              <a:lnSpc>
                <a:spcPct val="133000"/>
              </a:lnSpc>
              <a:buNone/>
            </a:pPr>
            <a:r>
              <a:rPr lang="en-US" sz="1150" dirty="0">
                <a:solidFill>
                  <a:srgbClr val="FFFFFF"/>
                </a:solidFill>
                <a:latin typeface="Overpass" pitchFamily="34" charset="0"/>
                <a:ea typeface="Overpass" pitchFamily="34" charset="-122"/>
                <a:cs typeface="Overpass" pitchFamily="34" charset="-120"/>
              </a:rPr>
              <a:t> The Consumer segment is the core revenue driver, and a small group of high-value customers contributes heavily to sales. This creates an opportunity for customer retention programs, loyalty benefits, and personalized marketing campaigns.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586904"/>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Product &amp; State Performance</a:t>
            </a:r>
            <a:endParaRPr lang="en-US" sz="2750" dirty="0"/>
          </a:p>
        </p:txBody>
      </p:sp>
      <p:sp>
        <p:nvSpPr>
          <p:cNvPr id="3" name="Text 1"/>
          <p:cNvSpPr/>
          <p:nvPr/>
        </p:nvSpPr>
        <p:spPr>
          <a:xfrm>
            <a:off x="523577" y="1400845"/>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Top Products by Sales</a:t>
            </a:r>
            <a:endParaRPr lang="en-US" sz="1350" dirty="0"/>
          </a:p>
        </p:txBody>
      </p:sp>
      <p:sp>
        <p:nvSpPr>
          <p:cNvPr id="4" name="Text 2"/>
          <p:cNvSpPr/>
          <p:nvPr/>
        </p:nvSpPr>
        <p:spPr>
          <a:xfrm>
            <a:off x="523577" y="1770385"/>
            <a:ext cx="4323159" cy="239390"/>
          </a:xfrm>
          <a:prstGeom prst="rect">
            <a:avLst/>
          </a:prstGeom>
          <a:noFill/>
          <a:ln/>
        </p:spPr>
        <p:txBody>
          <a:bodyPr wrap="none" lIns="0" tIns="0" rIns="0" bIns="0" rtlCol="0" anchor="t"/>
          <a:lstStyle/>
          <a:p>
            <a:pPr algn="l" indent="0" marL="0">
              <a:lnSpc>
                <a:spcPct val="133000"/>
              </a:lnSpc>
              <a:buNone/>
            </a:pPr>
            <a:r>
              <a:rPr lang="en-US" sz="1150" dirty="0">
                <a:solidFill>
                  <a:srgbClr val="E5E0DF"/>
                </a:solidFill>
                <a:latin typeface="Overpass" pitchFamily="34" charset="0"/>
                <a:ea typeface="Overpass" pitchFamily="34" charset="-122"/>
                <a:cs typeface="Overpass" pitchFamily="34" charset="-120"/>
              </a:rPr>
              <a:t>Top-performing products include:</a:t>
            </a:r>
            <a:endParaRPr lang="en-US" sz="1150" dirty="0"/>
          </a:p>
        </p:txBody>
      </p:sp>
      <p:sp>
        <p:nvSpPr>
          <p:cNvPr id="5" name="Text 3"/>
          <p:cNvSpPr/>
          <p:nvPr/>
        </p:nvSpPr>
        <p:spPr>
          <a:xfrm>
            <a:off x="523577" y="2144390"/>
            <a:ext cx="3865959" cy="1114499"/>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Canon imageCLASS products</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Fellowes office equipment</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Cisco TelePresence systems</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HP and GBC office products</a:t>
            </a:r>
            <a:endParaRPr lang="en-US" sz="1150" dirty="0"/>
          </a:p>
        </p:txBody>
      </p:sp>
      <p:sp>
        <p:nvSpPr>
          <p:cNvPr id="6" name="Text 4"/>
          <p:cNvSpPr/>
          <p:nvPr/>
        </p:nvSpPr>
        <p:spPr>
          <a:xfrm>
            <a:off x="4759226" y="1400845"/>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Top States by Profit</a:t>
            </a:r>
            <a:endParaRPr lang="en-US" sz="1350" dirty="0"/>
          </a:p>
        </p:txBody>
      </p:sp>
      <p:sp>
        <p:nvSpPr>
          <p:cNvPr id="7" name="Text 5"/>
          <p:cNvSpPr/>
          <p:nvPr/>
        </p:nvSpPr>
        <p:spPr>
          <a:xfrm>
            <a:off x="4759226" y="1770385"/>
            <a:ext cx="3865959" cy="106218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California generated the highest profit.</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New York ranked second.</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Other profitable states include Washington, Michigan, and Virginia.</a:t>
            </a:r>
            <a:endParaRPr lang="en-US" sz="1150" dirty="0"/>
          </a:p>
        </p:txBody>
      </p:sp>
      <p:sp>
        <p:nvSpPr>
          <p:cNvPr id="8" name="Shape 6"/>
          <p:cNvSpPr/>
          <p:nvPr/>
        </p:nvSpPr>
        <p:spPr>
          <a:xfrm>
            <a:off x="523577" y="3479453"/>
            <a:ext cx="8096845" cy="1077069"/>
          </a:xfrm>
          <a:prstGeom prst="roundRect">
            <a:avLst>
              <a:gd name="adj" fmla="val 5834"/>
            </a:avLst>
          </a:prstGeom>
          <a:solidFill>
            <a:srgbClr val="7E023C"/>
          </a:solidFill>
          <a:ln/>
        </p:spPr>
      </p:sp>
      <p:pic>
        <p:nvPicPr>
          <p:cNvPr id="9" name="Image 0" descr="preencoded.png">    </p:cNvPr>
          <p:cNvPicPr>
            <a:picLocks noChangeAspect="1"/>
          </p:cNvPicPr>
          <p:nvPr/>
        </p:nvPicPr>
        <p:blipFill>
          <a:blip r:embed="rId1"/>
          <a:stretch>
            <a:fillRect/>
          </a:stretch>
        </p:blipFill>
        <p:spPr>
          <a:xfrm>
            <a:off x="673150" y="3697412"/>
            <a:ext cx="187003" cy="149572"/>
          </a:xfrm>
          <a:prstGeom prst="rect">
            <a:avLst/>
          </a:prstGeom>
        </p:spPr>
      </p:pic>
      <p:sp>
        <p:nvSpPr>
          <p:cNvPr id="10" name="Text 7"/>
          <p:cNvSpPr/>
          <p:nvPr/>
        </p:nvSpPr>
        <p:spPr>
          <a:xfrm>
            <a:off x="1009724" y="3666381"/>
            <a:ext cx="7461126" cy="718170"/>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FFFFFF"/>
                </a:solidFill>
                <a:latin typeface="Overpass Bold" pitchFamily="34" charset="0"/>
                <a:ea typeface="Overpass Bold" pitchFamily="34" charset="-122"/>
                <a:cs typeface="Overpass Bold" pitchFamily="34" charset="-120"/>
              </a:rPr>
              <a:t>Business Insight:</a:t>
            </a:r>
            <a:pPr algn="l" indent="0" marL="0">
              <a:lnSpc>
                <a:spcPct val="133000"/>
              </a:lnSpc>
              <a:buNone/>
            </a:pPr>
            <a:r>
              <a:rPr lang="en-US" sz="1150" dirty="0">
                <a:solidFill>
                  <a:srgbClr val="FFFFFF"/>
                </a:solidFill>
                <a:latin typeface="Overpass" pitchFamily="34" charset="0"/>
                <a:ea typeface="Overpass" pitchFamily="34" charset="-122"/>
                <a:cs typeface="Overpass" pitchFamily="34" charset="-120"/>
              </a:rPr>
              <a:t> A small set of premium products and a few profitable states contribute significantly to overall business performance. The company should prioritize top-performing products and expand strategies in highly profitable states.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800100"/>
            <a:ext cx="8096845" cy="440010"/>
          </a:xfrm>
          <a:prstGeom prst="rect">
            <a:avLst/>
          </a:prstGeom>
          <a:noFill/>
          <a:ln/>
        </p:spPr>
        <p:txBody>
          <a:bodyPr wrap="none" lIns="0" tIns="0" rIns="0" bIns="0" rtlCol="0" anchor="t"/>
          <a:lstStyle/>
          <a:p>
            <a:pPr algn="l"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Shipping &amp; Discount Analysis</a:t>
            </a:r>
            <a:endParaRPr lang="en-US" sz="2750" dirty="0"/>
          </a:p>
        </p:txBody>
      </p:sp>
      <p:sp>
        <p:nvSpPr>
          <p:cNvPr id="3" name="Text 1"/>
          <p:cNvSpPr/>
          <p:nvPr/>
        </p:nvSpPr>
        <p:spPr>
          <a:xfrm>
            <a:off x="523577" y="1614041"/>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Shipping Mode Analysis</a:t>
            </a:r>
            <a:endParaRPr lang="en-US" sz="1350" dirty="0"/>
          </a:p>
        </p:txBody>
      </p:sp>
      <p:sp>
        <p:nvSpPr>
          <p:cNvPr id="4" name="Text 2"/>
          <p:cNvSpPr/>
          <p:nvPr/>
        </p:nvSpPr>
        <p:spPr>
          <a:xfrm>
            <a:off x="523577" y="1983581"/>
            <a:ext cx="3865959" cy="106218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Standard Class is the most frequently used shipping mode.</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Second Class and First Class follow.</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Same Day is used the least.</a:t>
            </a:r>
            <a:endParaRPr lang="en-US" sz="1150" dirty="0"/>
          </a:p>
        </p:txBody>
      </p:sp>
      <p:sp>
        <p:nvSpPr>
          <p:cNvPr id="5" name="Text 3"/>
          <p:cNvSpPr/>
          <p:nvPr/>
        </p:nvSpPr>
        <p:spPr>
          <a:xfrm>
            <a:off x="4759226" y="1614041"/>
            <a:ext cx="3865959" cy="219968"/>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Overpass Bold" pitchFamily="34" charset="0"/>
                <a:ea typeface="Overpass Bold" pitchFamily="34" charset="-122"/>
                <a:cs typeface="Overpass Bold" pitchFamily="34" charset="-120"/>
              </a:rPr>
              <a:t>Discount by Category</a:t>
            </a:r>
            <a:endParaRPr lang="en-US" sz="1350" dirty="0"/>
          </a:p>
        </p:txBody>
      </p:sp>
      <p:sp>
        <p:nvSpPr>
          <p:cNvPr id="6" name="Text 4"/>
          <p:cNvSpPr/>
          <p:nvPr/>
        </p:nvSpPr>
        <p:spPr>
          <a:xfrm>
            <a:off x="4759226" y="1983581"/>
            <a:ext cx="3865959" cy="82279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Furniture receives the highest average discount.</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Office Supplies receives a moderate discount.</a:t>
            </a:r>
            <a:endParaRPr lang="en-US" sz="1150" dirty="0"/>
          </a:p>
          <a:p>
            <a:pPr algn="l" marL="233680" indent="-233680">
              <a:lnSpc>
                <a:spcPct val="133000"/>
              </a:lnSpc>
              <a:buSzPct val="100000"/>
              <a:buChar char="•"/>
            </a:pPr>
            <a:r>
              <a:rPr lang="en-US" sz="1150" dirty="0">
                <a:solidFill>
                  <a:srgbClr val="E5E0DF"/>
                </a:solidFill>
                <a:latin typeface="Overpass" pitchFamily="34" charset="0"/>
                <a:ea typeface="Overpass" pitchFamily="34" charset="-122"/>
                <a:cs typeface="Overpass" pitchFamily="34" charset="-120"/>
              </a:rPr>
              <a:t>Technology receives the lowest discount.</a:t>
            </a:r>
            <a:endParaRPr lang="en-US" sz="1150" dirty="0"/>
          </a:p>
        </p:txBody>
      </p:sp>
      <p:sp>
        <p:nvSpPr>
          <p:cNvPr id="7" name="Shape 5"/>
          <p:cNvSpPr/>
          <p:nvPr/>
        </p:nvSpPr>
        <p:spPr>
          <a:xfrm>
            <a:off x="523577" y="3266331"/>
            <a:ext cx="8096845" cy="1077069"/>
          </a:xfrm>
          <a:prstGeom prst="roundRect">
            <a:avLst>
              <a:gd name="adj" fmla="val 5834"/>
            </a:avLst>
          </a:prstGeom>
          <a:solidFill>
            <a:srgbClr val="7E023C"/>
          </a:solidFill>
          <a:ln/>
        </p:spPr>
      </p:sp>
      <p:pic>
        <p:nvPicPr>
          <p:cNvPr id="8" name="Image 0" descr="preencoded.png">    </p:cNvPr>
          <p:cNvPicPr>
            <a:picLocks noChangeAspect="1"/>
          </p:cNvPicPr>
          <p:nvPr/>
        </p:nvPicPr>
        <p:blipFill>
          <a:blip r:embed="rId1"/>
          <a:stretch>
            <a:fillRect/>
          </a:stretch>
        </p:blipFill>
        <p:spPr>
          <a:xfrm>
            <a:off x="673150" y="3484290"/>
            <a:ext cx="187003" cy="149572"/>
          </a:xfrm>
          <a:prstGeom prst="rect">
            <a:avLst/>
          </a:prstGeom>
        </p:spPr>
      </p:pic>
      <p:sp>
        <p:nvSpPr>
          <p:cNvPr id="9" name="Text 6"/>
          <p:cNvSpPr/>
          <p:nvPr/>
        </p:nvSpPr>
        <p:spPr>
          <a:xfrm>
            <a:off x="1009724" y="3453259"/>
            <a:ext cx="7461126" cy="718170"/>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FFFFFF"/>
                </a:solidFill>
                <a:latin typeface="Overpass Bold" pitchFamily="34" charset="0"/>
                <a:ea typeface="Overpass Bold" pitchFamily="34" charset="-122"/>
                <a:cs typeface="Overpass Bold" pitchFamily="34" charset="-120"/>
              </a:rPr>
              <a:t>Business Insight:</a:t>
            </a:r>
            <a:pPr algn="l" indent="0" marL="0">
              <a:lnSpc>
                <a:spcPct val="133000"/>
              </a:lnSpc>
              <a:buNone/>
            </a:pPr>
            <a:r>
              <a:rPr lang="en-US" sz="1150" dirty="0">
                <a:solidFill>
                  <a:srgbClr val="FFFFFF"/>
                </a:solidFill>
                <a:latin typeface="Overpass" pitchFamily="34" charset="0"/>
                <a:ea typeface="Overpass" pitchFamily="34" charset="-122"/>
                <a:cs typeface="Overpass" pitchFamily="34" charset="-120"/>
              </a:rPr>
              <a:t> The company depends heavily on Standard Class shipping, so improving its efficiency can directly improve customer experience. Heavy discounting in Furniture should also be reviewed to ensure it is not reducing profitability.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139577"/>
          </a:xfrm>
          <a:prstGeom prst="rect">
            <a:avLst/>
          </a:prstGeom>
        </p:spPr>
      </p:pic>
      <p:sp>
        <p:nvSpPr>
          <p:cNvPr id="3" name="Text 0"/>
          <p:cNvSpPr/>
          <p:nvPr/>
        </p:nvSpPr>
        <p:spPr>
          <a:xfrm>
            <a:off x="523577" y="1557263"/>
            <a:ext cx="8096845" cy="268114"/>
          </a:xfrm>
          <a:prstGeom prst="rect">
            <a:avLst/>
          </a:prstGeom>
          <a:noFill/>
          <a:ln/>
        </p:spPr>
        <p:txBody>
          <a:bodyPr wrap="none" lIns="0" tIns="0" rIns="0" bIns="0" rtlCol="0" anchor="t"/>
          <a:lstStyle/>
          <a:p>
            <a:pPr algn="l" indent="0" marL="0">
              <a:lnSpc>
                <a:spcPct val="104000"/>
              </a:lnSpc>
              <a:buNone/>
            </a:pPr>
            <a:r>
              <a:rPr lang="en-US" sz="1650" b="1" dirty="0">
                <a:solidFill>
                  <a:srgbClr val="FFFFFF"/>
                </a:solidFill>
                <a:latin typeface="Overpass Bold" pitchFamily="34" charset="0"/>
                <a:ea typeface="Overpass Bold" pitchFamily="34" charset="-122"/>
                <a:cs typeface="Overpass Bold" pitchFamily="34" charset="-120"/>
              </a:rPr>
              <a:t>Key Business Insights</a:t>
            </a:r>
            <a:endParaRPr lang="en-US" sz="1650" dirty="0"/>
          </a:p>
        </p:txBody>
      </p:sp>
      <p:sp>
        <p:nvSpPr>
          <p:cNvPr id="4" name="Text 1"/>
          <p:cNvSpPr/>
          <p:nvPr/>
        </p:nvSpPr>
        <p:spPr>
          <a:xfrm>
            <a:off x="523577" y="1847552"/>
            <a:ext cx="8096845" cy="134020"/>
          </a:xfrm>
          <a:prstGeom prst="rect">
            <a:avLst/>
          </a:prstGeom>
          <a:noFill/>
          <a:ln/>
        </p:spPr>
        <p:txBody>
          <a:bodyPr wrap="none" lIns="0" tIns="0" rIns="0" bIns="0" rtlCol="0" anchor="t"/>
          <a:lstStyle/>
          <a:p>
            <a:pPr algn="l" indent="0" marL="0">
              <a:lnSpc>
                <a:spcPct val="104000"/>
              </a:lnSpc>
              <a:buNone/>
            </a:pPr>
            <a:r>
              <a:rPr lang="en-US" sz="800" b="1" dirty="0">
                <a:solidFill>
                  <a:srgbClr val="FFFFFF"/>
                </a:solidFill>
                <a:latin typeface="Overpass Bold" pitchFamily="34" charset="0"/>
                <a:ea typeface="Overpass Bold" pitchFamily="34" charset="-122"/>
                <a:cs typeface="Overpass Bold" pitchFamily="34" charset="-120"/>
              </a:rPr>
              <a:t>Major Findings from the Analysis</a:t>
            </a:r>
            <a:endParaRPr lang="en-US" sz="8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577" y="2064841"/>
            <a:ext cx="227856" cy="227856"/>
          </a:xfrm>
          <a:prstGeom prst="rect">
            <a:avLst/>
          </a:prstGeom>
        </p:spPr>
      </p:pic>
      <p:sp>
        <p:nvSpPr>
          <p:cNvPr id="6" name="Text 2"/>
          <p:cNvSpPr/>
          <p:nvPr/>
        </p:nvSpPr>
        <p:spPr>
          <a:xfrm>
            <a:off x="523577" y="2362126"/>
            <a:ext cx="4013671"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Technology Leads Sales</a:t>
            </a:r>
            <a:endParaRPr lang="en-US" sz="800" dirty="0"/>
          </a:p>
        </p:txBody>
      </p:sp>
      <p:sp>
        <p:nvSpPr>
          <p:cNvPr id="7" name="Text 3"/>
          <p:cNvSpPr/>
          <p:nvPr/>
        </p:nvSpPr>
        <p:spPr>
          <a:xfrm>
            <a:off x="523577" y="2529408"/>
            <a:ext cx="4013671"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The Technology category is the highest revenue generator.</a:t>
            </a:r>
            <a:endParaRPr lang="en-US" sz="7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06677" y="2064841"/>
            <a:ext cx="227856" cy="227856"/>
          </a:xfrm>
          <a:prstGeom prst="rect">
            <a:avLst/>
          </a:prstGeom>
        </p:spPr>
      </p:pic>
      <p:sp>
        <p:nvSpPr>
          <p:cNvPr id="9" name="Text 4"/>
          <p:cNvSpPr/>
          <p:nvPr/>
        </p:nvSpPr>
        <p:spPr>
          <a:xfrm>
            <a:off x="4606677" y="2362126"/>
            <a:ext cx="4013746"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West: Profit Hub</a:t>
            </a:r>
            <a:endParaRPr lang="en-US" sz="800" dirty="0"/>
          </a:p>
        </p:txBody>
      </p:sp>
      <p:sp>
        <p:nvSpPr>
          <p:cNvPr id="10" name="Text 5"/>
          <p:cNvSpPr/>
          <p:nvPr/>
        </p:nvSpPr>
        <p:spPr>
          <a:xfrm>
            <a:off x="4606677" y="2529408"/>
            <a:ext cx="4013746"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The West region yields the highest overall profit.</a:t>
            </a:r>
            <a:endParaRPr lang="en-US" sz="7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577" y="2757860"/>
            <a:ext cx="227856" cy="227856"/>
          </a:xfrm>
          <a:prstGeom prst="rect">
            <a:avLst/>
          </a:prstGeom>
        </p:spPr>
      </p:pic>
      <p:sp>
        <p:nvSpPr>
          <p:cNvPr id="12" name="Text 6"/>
          <p:cNvSpPr/>
          <p:nvPr/>
        </p:nvSpPr>
        <p:spPr>
          <a:xfrm>
            <a:off x="523577" y="3055144"/>
            <a:ext cx="4013671"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Consistent Sales Growth</a:t>
            </a:r>
            <a:endParaRPr lang="en-US" sz="800" dirty="0"/>
          </a:p>
        </p:txBody>
      </p:sp>
      <p:sp>
        <p:nvSpPr>
          <p:cNvPr id="13" name="Text 7"/>
          <p:cNvSpPr/>
          <p:nvPr/>
        </p:nvSpPr>
        <p:spPr>
          <a:xfrm>
            <a:off x="523577" y="3222427"/>
            <a:ext cx="4013671"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Sales show a strong upward trend from 2014 to 2017.</a:t>
            </a:r>
            <a:endParaRPr lang="en-US" sz="70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06677" y="2757860"/>
            <a:ext cx="227856" cy="227856"/>
          </a:xfrm>
          <a:prstGeom prst="rect">
            <a:avLst/>
          </a:prstGeom>
        </p:spPr>
      </p:pic>
      <p:sp>
        <p:nvSpPr>
          <p:cNvPr id="15" name="Text 8"/>
          <p:cNvSpPr/>
          <p:nvPr/>
        </p:nvSpPr>
        <p:spPr>
          <a:xfrm>
            <a:off x="4606677" y="3055144"/>
            <a:ext cx="4013746"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Consumer Segment Dominant</a:t>
            </a:r>
            <a:endParaRPr lang="en-US" sz="800" dirty="0"/>
          </a:p>
        </p:txBody>
      </p:sp>
      <p:sp>
        <p:nvSpPr>
          <p:cNvPr id="16" name="Text 9"/>
          <p:cNvSpPr/>
          <p:nvPr/>
        </p:nvSpPr>
        <p:spPr>
          <a:xfrm>
            <a:off x="4606677" y="3222427"/>
            <a:ext cx="4013746"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The Consumer segment drives the largest share of revenue.</a:t>
            </a:r>
            <a:endParaRPr lang="en-US" sz="700" dirty="0"/>
          </a:p>
        </p:txBody>
      </p:sp>
      <p:pic>
        <p:nvPicPr>
          <p:cNvPr id="17"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3577" y="3450878"/>
            <a:ext cx="227856" cy="227856"/>
          </a:xfrm>
          <a:prstGeom prst="rect">
            <a:avLst/>
          </a:prstGeom>
        </p:spPr>
      </p:pic>
      <p:sp>
        <p:nvSpPr>
          <p:cNvPr id="18" name="Text 10"/>
          <p:cNvSpPr/>
          <p:nvPr/>
        </p:nvSpPr>
        <p:spPr>
          <a:xfrm>
            <a:off x="523577" y="3748162"/>
            <a:ext cx="4013671"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Top Performers Drive Value</a:t>
            </a:r>
            <a:endParaRPr lang="en-US" sz="800" dirty="0"/>
          </a:p>
        </p:txBody>
      </p:sp>
      <p:sp>
        <p:nvSpPr>
          <p:cNvPr id="19" name="Text 11"/>
          <p:cNvSpPr/>
          <p:nvPr/>
        </p:nvSpPr>
        <p:spPr>
          <a:xfrm>
            <a:off x="523577" y="3915445"/>
            <a:ext cx="4013671"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A core group of customers and products account for significant sales.</a:t>
            </a:r>
            <a:endParaRPr lang="en-US" sz="700" dirty="0"/>
          </a:p>
        </p:txBody>
      </p:sp>
      <p:pic>
        <p:nvPicPr>
          <p:cNvPr id="20"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06677" y="3450878"/>
            <a:ext cx="227856" cy="227856"/>
          </a:xfrm>
          <a:prstGeom prst="rect">
            <a:avLst/>
          </a:prstGeom>
        </p:spPr>
      </p:pic>
      <p:sp>
        <p:nvSpPr>
          <p:cNvPr id="21" name="Text 12"/>
          <p:cNvSpPr/>
          <p:nvPr/>
        </p:nvSpPr>
        <p:spPr>
          <a:xfrm>
            <a:off x="4606677" y="3748162"/>
            <a:ext cx="4013746"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CA &amp; NY: Profit Centers</a:t>
            </a:r>
            <a:endParaRPr lang="en-US" sz="800" dirty="0"/>
          </a:p>
        </p:txBody>
      </p:sp>
      <p:sp>
        <p:nvSpPr>
          <p:cNvPr id="22" name="Text 13"/>
          <p:cNvSpPr/>
          <p:nvPr/>
        </p:nvSpPr>
        <p:spPr>
          <a:xfrm>
            <a:off x="4606677" y="3915445"/>
            <a:ext cx="4013746"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California and New York are the most profitable states.</a:t>
            </a:r>
            <a:endParaRPr lang="en-US" sz="700" dirty="0"/>
          </a:p>
        </p:txBody>
      </p:sp>
      <p:pic>
        <p:nvPicPr>
          <p:cNvPr id="23"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3577" y="4143896"/>
            <a:ext cx="227856" cy="227856"/>
          </a:xfrm>
          <a:prstGeom prst="rect">
            <a:avLst/>
          </a:prstGeom>
        </p:spPr>
      </p:pic>
      <p:sp>
        <p:nvSpPr>
          <p:cNvPr id="24" name="Text 14"/>
          <p:cNvSpPr/>
          <p:nvPr/>
        </p:nvSpPr>
        <p:spPr>
          <a:xfrm>
            <a:off x="523577" y="4441180"/>
            <a:ext cx="4013671"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Standard Class Shipping</a:t>
            </a:r>
            <a:endParaRPr lang="en-US" sz="800" dirty="0"/>
          </a:p>
        </p:txBody>
      </p:sp>
      <p:sp>
        <p:nvSpPr>
          <p:cNvPr id="25" name="Text 15"/>
          <p:cNvSpPr/>
          <p:nvPr/>
        </p:nvSpPr>
        <p:spPr>
          <a:xfrm>
            <a:off x="523577" y="4608463"/>
            <a:ext cx="4013671"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Standard Class is the most frequently utilised shipping method.</a:t>
            </a:r>
            <a:endParaRPr lang="en-US" sz="700" dirty="0"/>
          </a:p>
        </p:txBody>
      </p:sp>
      <p:pic>
        <p:nvPicPr>
          <p:cNvPr id="26" name="Image 8" descr="preencoded.pn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06677" y="4143896"/>
            <a:ext cx="227856" cy="227856"/>
          </a:xfrm>
          <a:prstGeom prst="rect">
            <a:avLst/>
          </a:prstGeom>
        </p:spPr>
      </p:pic>
      <p:sp>
        <p:nvSpPr>
          <p:cNvPr id="27" name="Text 16"/>
          <p:cNvSpPr/>
          <p:nvPr/>
        </p:nvSpPr>
        <p:spPr>
          <a:xfrm>
            <a:off x="4606677" y="4441180"/>
            <a:ext cx="4013746" cy="134020"/>
          </a:xfrm>
          <a:prstGeom prst="rect">
            <a:avLst/>
          </a:prstGeom>
          <a:noFill/>
          <a:ln/>
        </p:spPr>
        <p:txBody>
          <a:bodyPr wrap="none" lIns="0" tIns="0" rIns="0" bIns="0" rtlCol="0" anchor="t"/>
          <a:lstStyle/>
          <a:p>
            <a:pPr algn="l" indent="0" marL="0">
              <a:lnSpc>
                <a:spcPct val="104000"/>
              </a:lnSpc>
              <a:buNone/>
            </a:pPr>
            <a:r>
              <a:rPr lang="en-US" sz="800" b="1" dirty="0">
                <a:solidFill>
                  <a:srgbClr val="E5E0DF"/>
                </a:solidFill>
                <a:latin typeface="Overpass Bold" pitchFamily="34" charset="0"/>
                <a:ea typeface="Overpass Bold" pitchFamily="34" charset="-122"/>
                <a:cs typeface="Overpass Bold" pitchFamily="34" charset="-120"/>
              </a:rPr>
              <a:t>Furniture Discount Impact</a:t>
            </a:r>
            <a:endParaRPr lang="en-US" sz="800" dirty="0"/>
          </a:p>
        </p:txBody>
      </p:sp>
      <p:sp>
        <p:nvSpPr>
          <p:cNvPr id="28" name="Text 17"/>
          <p:cNvSpPr/>
          <p:nvPr/>
        </p:nvSpPr>
        <p:spPr>
          <a:xfrm>
            <a:off x="4606677" y="4608463"/>
            <a:ext cx="4013746" cy="117351"/>
          </a:xfrm>
          <a:prstGeom prst="rect">
            <a:avLst/>
          </a:prstGeom>
          <a:noFill/>
          <a:ln/>
        </p:spPr>
        <p:txBody>
          <a:bodyPr wrap="none" lIns="0" tIns="0" rIns="0" bIns="0" rtlCol="0" anchor="t"/>
          <a:lstStyle/>
          <a:p>
            <a:pPr algn="l" indent="0" marL="0">
              <a:lnSpc>
                <a:spcPct val="107000"/>
              </a:lnSpc>
              <a:buNone/>
            </a:pPr>
            <a:r>
              <a:rPr lang="en-US" sz="700" dirty="0">
                <a:solidFill>
                  <a:srgbClr val="E5E0DF"/>
                </a:solidFill>
                <a:latin typeface="Overpass" pitchFamily="34" charset="0"/>
                <a:ea typeface="Overpass" pitchFamily="34" charset="-122"/>
                <a:cs typeface="Overpass" pitchFamily="34" charset="-120"/>
              </a:rPr>
              <a:t>High discounts on Furniture may be affecting profit margins.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23577" y="449163"/>
            <a:ext cx="8096845" cy="336872"/>
          </a:xfrm>
          <a:prstGeom prst="rect">
            <a:avLst/>
          </a:prstGeom>
          <a:noFill/>
          <a:ln/>
        </p:spPr>
        <p:txBody>
          <a:bodyPr wrap="none" lIns="0" tIns="0" rIns="0" bIns="0" rtlCol="0" anchor="t"/>
          <a:lstStyle/>
          <a:p>
            <a:pPr algn="l" indent="0" marL="0">
              <a:lnSpc>
                <a:spcPct val="104000"/>
              </a:lnSpc>
              <a:buNone/>
            </a:pPr>
            <a:r>
              <a:rPr lang="en-US" sz="2100" b="1" dirty="0">
                <a:solidFill>
                  <a:srgbClr val="FFFFFF"/>
                </a:solidFill>
                <a:latin typeface="Overpass Bold" pitchFamily="34" charset="0"/>
                <a:ea typeface="Overpass Bold" pitchFamily="34" charset="-122"/>
                <a:cs typeface="Overpass Bold" pitchFamily="34" charset="-120"/>
              </a:rPr>
              <a:t>Business Recommendations</a:t>
            </a:r>
            <a:endParaRPr lang="en-US" sz="2100" dirty="0"/>
          </a:p>
        </p:txBody>
      </p:sp>
      <p:sp>
        <p:nvSpPr>
          <p:cNvPr id="3" name="Shape 1"/>
          <p:cNvSpPr/>
          <p:nvPr/>
        </p:nvSpPr>
        <p:spPr>
          <a:xfrm>
            <a:off x="523577" y="961430"/>
            <a:ext cx="257696" cy="257696"/>
          </a:xfrm>
          <a:prstGeom prst="roundRect">
            <a:avLst>
              <a:gd name="adj" fmla="val 18669"/>
            </a:avLst>
          </a:prstGeom>
          <a:solidFill>
            <a:srgbClr val="7E023C"/>
          </a:solidFill>
          <a:ln w="4763">
            <a:solidFill>
              <a:srgbClr val="971B55"/>
            </a:solidFill>
            <a:prstDash val="solid"/>
          </a:ln>
        </p:spPr>
      </p:sp>
      <p:sp>
        <p:nvSpPr>
          <p:cNvPr id="4" name="Text 2"/>
          <p:cNvSpPr/>
          <p:nvPr/>
        </p:nvSpPr>
        <p:spPr>
          <a:xfrm>
            <a:off x="571537" y="989186"/>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1</a:t>
            </a:r>
            <a:endParaRPr lang="en-US" sz="1250" dirty="0"/>
          </a:p>
        </p:txBody>
      </p:sp>
      <p:sp>
        <p:nvSpPr>
          <p:cNvPr id="5" name="Text 3"/>
          <p:cNvSpPr/>
          <p:nvPr/>
        </p:nvSpPr>
        <p:spPr>
          <a:xfrm>
            <a:off x="868933" y="1000795"/>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Focus on Technology Category</a:t>
            </a:r>
            <a:endParaRPr lang="en-US" sz="1050" dirty="0"/>
          </a:p>
        </p:txBody>
      </p:sp>
      <p:sp>
        <p:nvSpPr>
          <p:cNvPr id="6" name="Text 4"/>
          <p:cNvSpPr/>
          <p:nvPr/>
        </p:nvSpPr>
        <p:spPr>
          <a:xfrm>
            <a:off x="868933" y="1221804"/>
            <a:ext cx="7751490" cy="323404"/>
          </a:xfrm>
          <a:prstGeom prst="rect">
            <a:avLst/>
          </a:prstGeom>
          <a:noFill/>
          <a:ln/>
        </p:spPr>
        <p:txBody>
          <a:bodyPr wrap="square" lIns="0" tIns="0" rIns="0" bIns="0" rtlCol="0" anchor="t">
            <a:normAutofit/>
          </a:bodyPr>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Technology generates the highest sales and lowest discounts, making it the most profitable category. Increase marketing and inventory focus on technology products.</a:t>
            </a:r>
            <a:endParaRPr lang="en-US" sz="900" dirty="0"/>
          </a:p>
        </p:txBody>
      </p:sp>
      <p:sp>
        <p:nvSpPr>
          <p:cNvPr id="7" name="Shape 5"/>
          <p:cNvSpPr/>
          <p:nvPr/>
        </p:nvSpPr>
        <p:spPr>
          <a:xfrm>
            <a:off x="523577" y="1720602"/>
            <a:ext cx="257696" cy="257696"/>
          </a:xfrm>
          <a:prstGeom prst="roundRect">
            <a:avLst>
              <a:gd name="adj" fmla="val 18669"/>
            </a:avLst>
          </a:prstGeom>
          <a:solidFill>
            <a:srgbClr val="7E023C"/>
          </a:solidFill>
          <a:ln w="4763">
            <a:solidFill>
              <a:srgbClr val="971B55"/>
            </a:solidFill>
            <a:prstDash val="solid"/>
          </a:ln>
        </p:spPr>
      </p:sp>
      <p:sp>
        <p:nvSpPr>
          <p:cNvPr id="8" name="Text 6"/>
          <p:cNvSpPr/>
          <p:nvPr/>
        </p:nvSpPr>
        <p:spPr>
          <a:xfrm>
            <a:off x="571537" y="1748358"/>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2</a:t>
            </a:r>
            <a:endParaRPr lang="en-US" sz="1250" dirty="0"/>
          </a:p>
        </p:txBody>
      </p:sp>
      <p:sp>
        <p:nvSpPr>
          <p:cNvPr id="9" name="Text 7"/>
          <p:cNvSpPr/>
          <p:nvPr/>
        </p:nvSpPr>
        <p:spPr>
          <a:xfrm>
            <a:off x="868933" y="1759967"/>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Strengthen West Region Strategy</a:t>
            </a:r>
            <a:endParaRPr lang="en-US" sz="1050" dirty="0"/>
          </a:p>
        </p:txBody>
      </p:sp>
      <p:sp>
        <p:nvSpPr>
          <p:cNvPr id="10" name="Text 8"/>
          <p:cNvSpPr/>
          <p:nvPr/>
        </p:nvSpPr>
        <p:spPr>
          <a:xfrm>
            <a:off x="868933" y="1980977"/>
            <a:ext cx="7751490" cy="161702"/>
          </a:xfrm>
          <a:prstGeom prst="rect">
            <a:avLst/>
          </a:prstGeom>
          <a:noFill/>
          <a:ln/>
        </p:spPr>
        <p:txBody>
          <a:bodyPr wrap="none" lIns="0" tIns="0" rIns="0" bIns="0" rtlCol="0" anchor="t"/>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The West region is the most profitable. Study its customer behavior and replicate successful strategies in South and Central regions.</a:t>
            </a:r>
            <a:endParaRPr lang="en-US" sz="900" dirty="0"/>
          </a:p>
        </p:txBody>
      </p:sp>
      <p:sp>
        <p:nvSpPr>
          <p:cNvPr id="11" name="Shape 9"/>
          <p:cNvSpPr/>
          <p:nvPr/>
        </p:nvSpPr>
        <p:spPr>
          <a:xfrm>
            <a:off x="523577" y="2318072"/>
            <a:ext cx="257696" cy="257696"/>
          </a:xfrm>
          <a:prstGeom prst="roundRect">
            <a:avLst>
              <a:gd name="adj" fmla="val 18669"/>
            </a:avLst>
          </a:prstGeom>
          <a:solidFill>
            <a:srgbClr val="7E023C"/>
          </a:solidFill>
          <a:ln w="4763">
            <a:solidFill>
              <a:srgbClr val="971B55"/>
            </a:solidFill>
            <a:prstDash val="solid"/>
          </a:ln>
        </p:spPr>
      </p:sp>
      <p:sp>
        <p:nvSpPr>
          <p:cNvPr id="12" name="Text 10"/>
          <p:cNvSpPr/>
          <p:nvPr/>
        </p:nvSpPr>
        <p:spPr>
          <a:xfrm>
            <a:off x="571537" y="2345829"/>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3</a:t>
            </a:r>
            <a:endParaRPr lang="en-US" sz="1250" dirty="0"/>
          </a:p>
        </p:txBody>
      </p:sp>
      <p:sp>
        <p:nvSpPr>
          <p:cNvPr id="13" name="Text 11"/>
          <p:cNvSpPr/>
          <p:nvPr/>
        </p:nvSpPr>
        <p:spPr>
          <a:xfrm>
            <a:off x="868933" y="2357438"/>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Improve Shipping Efficiency</a:t>
            </a:r>
            <a:endParaRPr lang="en-US" sz="1050" dirty="0"/>
          </a:p>
        </p:txBody>
      </p:sp>
      <p:sp>
        <p:nvSpPr>
          <p:cNvPr id="14" name="Text 12"/>
          <p:cNvSpPr/>
          <p:nvPr/>
        </p:nvSpPr>
        <p:spPr>
          <a:xfrm>
            <a:off x="868933" y="2578447"/>
            <a:ext cx="7751490" cy="161702"/>
          </a:xfrm>
          <a:prstGeom prst="rect">
            <a:avLst/>
          </a:prstGeom>
          <a:noFill/>
          <a:ln/>
        </p:spPr>
        <p:txBody>
          <a:bodyPr wrap="none" lIns="0" tIns="0" rIns="0" bIns="0" rtlCol="0" anchor="t"/>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Since most orders use Standard Class, improving delivery speed and reliability can enhance customer satisfaction without increasing costs significantly.</a:t>
            </a:r>
            <a:endParaRPr lang="en-US" sz="900" dirty="0"/>
          </a:p>
        </p:txBody>
      </p:sp>
      <p:sp>
        <p:nvSpPr>
          <p:cNvPr id="15" name="Shape 13"/>
          <p:cNvSpPr/>
          <p:nvPr/>
        </p:nvSpPr>
        <p:spPr>
          <a:xfrm>
            <a:off x="523577" y="2915543"/>
            <a:ext cx="257696" cy="257696"/>
          </a:xfrm>
          <a:prstGeom prst="roundRect">
            <a:avLst>
              <a:gd name="adj" fmla="val 18669"/>
            </a:avLst>
          </a:prstGeom>
          <a:solidFill>
            <a:srgbClr val="7E023C"/>
          </a:solidFill>
          <a:ln w="4763">
            <a:solidFill>
              <a:srgbClr val="971B55"/>
            </a:solidFill>
            <a:prstDash val="solid"/>
          </a:ln>
        </p:spPr>
      </p:sp>
      <p:sp>
        <p:nvSpPr>
          <p:cNvPr id="16" name="Text 14"/>
          <p:cNvSpPr/>
          <p:nvPr/>
        </p:nvSpPr>
        <p:spPr>
          <a:xfrm>
            <a:off x="571537" y="2943299"/>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4</a:t>
            </a:r>
            <a:endParaRPr lang="en-US" sz="1250" dirty="0"/>
          </a:p>
        </p:txBody>
      </p:sp>
      <p:sp>
        <p:nvSpPr>
          <p:cNvPr id="17" name="Text 15"/>
          <p:cNvSpPr/>
          <p:nvPr/>
        </p:nvSpPr>
        <p:spPr>
          <a:xfrm>
            <a:off x="868933" y="2954908"/>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Optimize Discount Strategy</a:t>
            </a:r>
            <a:endParaRPr lang="en-US" sz="1050" dirty="0"/>
          </a:p>
        </p:txBody>
      </p:sp>
      <p:sp>
        <p:nvSpPr>
          <p:cNvPr id="18" name="Text 16"/>
          <p:cNvSpPr/>
          <p:nvPr/>
        </p:nvSpPr>
        <p:spPr>
          <a:xfrm>
            <a:off x="868933" y="3175918"/>
            <a:ext cx="7751490" cy="161702"/>
          </a:xfrm>
          <a:prstGeom prst="rect">
            <a:avLst/>
          </a:prstGeom>
          <a:noFill/>
          <a:ln/>
        </p:spPr>
        <p:txBody>
          <a:bodyPr wrap="none" lIns="0" tIns="0" rIns="0" bIns="0" rtlCol="0" anchor="t"/>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Furniture receives high discounts but contributes lower profit. Review discount levels to maintain sales volume while improving margins.</a:t>
            </a:r>
            <a:endParaRPr lang="en-US" sz="900" dirty="0"/>
          </a:p>
        </p:txBody>
      </p:sp>
      <p:sp>
        <p:nvSpPr>
          <p:cNvPr id="19" name="Shape 17"/>
          <p:cNvSpPr/>
          <p:nvPr/>
        </p:nvSpPr>
        <p:spPr>
          <a:xfrm>
            <a:off x="523577" y="3513013"/>
            <a:ext cx="257696" cy="257696"/>
          </a:xfrm>
          <a:prstGeom prst="roundRect">
            <a:avLst>
              <a:gd name="adj" fmla="val 18669"/>
            </a:avLst>
          </a:prstGeom>
          <a:solidFill>
            <a:srgbClr val="7E023C"/>
          </a:solidFill>
          <a:ln w="4763">
            <a:solidFill>
              <a:srgbClr val="971B55"/>
            </a:solidFill>
            <a:prstDash val="solid"/>
          </a:ln>
        </p:spPr>
      </p:sp>
      <p:sp>
        <p:nvSpPr>
          <p:cNvPr id="20" name="Text 18"/>
          <p:cNvSpPr/>
          <p:nvPr/>
        </p:nvSpPr>
        <p:spPr>
          <a:xfrm>
            <a:off x="571537" y="3540770"/>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5</a:t>
            </a:r>
            <a:endParaRPr lang="en-US" sz="1250" dirty="0"/>
          </a:p>
        </p:txBody>
      </p:sp>
      <p:sp>
        <p:nvSpPr>
          <p:cNvPr id="21" name="Text 19"/>
          <p:cNvSpPr/>
          <p:nvPr/>
        </p:nvSpPr>
        <p:spPr>
          <a:xfrm>
            <a:off x="868933" y="3552379"/>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Customer Retention Programs</a:t>
            </a:r>
            <a:endParaRPr lang="en-US" sz="1050" dirty="0"/>
          </a:p>
        </p:txBody>
      </p:sp>
      <p:sp>
        <p:nvSpPr>
          <p:cNvPr id="22" name="Text 20"/>
          <p:cNvSpPr/>
          <p:nvPr/>
        </p:nvSpPr>
        <p:spPr>
          <a:xfrm>
            <a:off x="868933" y="3773388"/>
            <a:ext cx="7751490" cy="323404"/>
          </a:xfrm>
          <a:prstGeom prst="rect">
            <a:avLst/>
          </a:prstGeom>
          <a:noFill/>
          <a:ln/>
        </p:spPr>
        <p:txBody>
          <a:bodyPr wrap="square" lIns="0" tIns="0" rIns="0" bIns="0" rtlCol="0" anchor="t">
            <a:normAutofit/>
          </a:bodyPr>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Top customers contribute significantly to revenue. Implement loyalty programs, personalized offers, and targeted campaigns to retain high-value customers.</a:t>
            </a:r>
            <a:endParaRPr lang="en-US" sz="900" dirty="0"/>
          </a:p>
        </p:txBody>
      </p:sp>
      <p:sp>
        <p:nvSpPr>
          <p:cNvPr id="23" name="Shape 21"/>
          <p:cNvSpPr/>
          <p:nvPr/>
        </p:nvSpPr>
        <p:spPr>
          <a:xfrm>
            <a:off x="523577" y="4272186"/>
            <a:ext cx="257696" cy="257696"/>
          </a:xfrm>
          <a:prstGeom prst="roundRect">
            <a:avLst>
              <a:gd name="adj" fmla="val 18669"/>
            </a:avLst>
          </a:prstGeom>
          <a:solidFill>
            <a:srgbClr val="7E023C"/>
          </a:solidFill>
          <a:ln w="4763">
            <a:solidFill>
              <a:srgbClr val="971B55"/>
            </a:solidFill>
            <a:prstDash val="solid"/>
          </a:ln>
        </p:spPr>
      </p:sp>
      <p:sp>
        <p:nvSpPr>
          <p:cNvPr id="24" name="Text 22"/>
          <p:cNvSpPr/>
          <p:nvPr/>
        </p:nvSpPr>
        <p:spPr>
          <a:xfrm>
            <a:off x="571537" y="4299942"/>
            <a:ext cx="161702" cy="202109"/>
          </a:xfrm>
          <a:prstGeom prst="rect">
            <a:avLst/>
          </a:prstGeom>
          <a:noFill/>
          <a:ln/>
        </p:spPr>
        <p:txBody>
          <a:bodyPr wrap="none" lIns="0" tIns="0" rIns="0" bIns="0" rtlCol="0" anchor="ctr"/>
          <a:lstStyle/>
          <a:p>
            <a:pPr algn="ctr" indent="0" marL="0">
              <a:lnSpc>
                <a:spcPct val="100000"/>
              </a:lnSpc>
              <a:buNone/>
            </a:pPr>
            <a:r>
              <a:rPr lang="en-US" sz="1250" b="1" dirty="0">
                <a:solidFill>
                  <a:srgbClr val="E5E0DF"/>
                </a:solidFill>
                <a:latin typeface="Overpass Bold" pitchFamily="34" charset="0"/>
                <a:ea typeface="Overpass Bold" pitchFamily="34" charset="-122"/>
                <a:cs typeface="Overpass Bold" pitchFamily="34" charset="-120"/>
              </a:rPr>
              <a:t>6</a:t>
            </a:r>
            <a:endParaRPr lang="en-US" sz="1250" dirty="0"/>
          </a:p>
        </p:txBody>
      </p:sp>
      <p:sp>
        <p:nvSpPr>
          <p:cNvPr id="25" name="Text 23"/>
          <p:cNvSpPr/>
          <p:nvPr/>
        </p:nvSpPr>
        <p:spPr>
          <a:xfrm>
            <a:off x="868933" y="4311551"/>
            <a:ext cx="7751490" cy="168399"/>
          </a:xfrm>
          <a:prstGeom prst="rect">
            <a:avLst/>
          </a:prstGeom>
          <a:noFill/>
          <a:ln/>
        </p:spPr>
        <p:txBody>
          <a:bodyPr wrap="none" lIns="0" tIns="0" rIns="0" bIns="0" rtlCol="0" anchor="t"/>
          <a:lstStyle/>
          <a:p>
            <a:pPr algn="l" indent="0" marL="0">
              <a:lnSpc>
                <a:spcPct val="104000"/>
              </a:lnSpc>
              <a:buNone/>
            </a:pPr>
            <a:r>
              <a:rPr lang="en-US" sz="1050" b="1" dirty="0">
                <a:solidFill>
                  <a:srgbClr val="E5E0DF"/>
                </a:solidFill>
                <a:latin typeface="Overpass Bold" pitchFamily="34" charset="0"/>
                <a:ea typeface="Overpass Bold" pitchFamily="34" charset="-122"/>
                <a:cs typeface="Overpass Bold" pitchFamily="34" charset="-120"/>
              </a:rPr>
              <a:t>Expand in High-Profit States</a:t>
            </a:r>
            <a:endParaRPr lang="en-US" sz="1050" dirty="0"/>
          </a:p>
        </p:txBody>
      </p:sp>
      <p:sp>
        <p:nvSpPr>
          <p:cNvPr id="26" name="Text 24"/>
          <p:cNvSpPr/>
          <p:nvPr/>
        </p:nvSpPr>
        <p:spPr>
          <a:xfrm>
            <a:off x="868933" y="4532561"/>
            <a:ext cx="7751490" cy="161702"/>
          </a:xfrm>
          <a:prstGeom prst="rect">
            <a:avLst/>
          </a:prstGeom>
          <a:noFill/>
          <a:ln/>
        </p:spPr>
        <p:txBody>
          <a:bodyPr wrap="none" lIns="0" tIns="0" rIns="0" bIns="0" rtlCol="0" anchor="t"/>
          <a:lstStyle/>
          <a:p>
            <a:pPr algn="l" indent="0" marL="0">
              <a:lnSpc>
                <a:spcPct val="118000"/>
              </a:lnSpc>
              <a:buNone/>
            </a:pPr>
            <a:r>
              <a:rPr lang="en-US" sz="900" dirty="0">
                <a:solidFill>
                  <a:srgbClr val="E5E0DF"/>
                </a:solidFill>
                <a:latin typeface="Overpass" pitchFamily="34" charset="0"/>
                <a:ea typeface="Overpass" pitchFamily="34" charset="-122"/>
                <a:cs typeface="Overpass" pitchFamily="34" charset="-120"/>
              </a:rPr>
              <a:t>Focus expansion efforts on California, New York, Washington, and other high-performing states to maximize profitability.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577" y="1556965"/>
            <a:ext cx="8096845" cy="440010"/>
          </a:xfrm>
          <a:prstGeom prst="rect">
            <a:avLst/>
          </a:prstGeom>
          <a:noFill/>
          <a:ln/>
        </p:spPr>
        <p:txBody>
          <a:bodyPr wrap="none" lIns="0" tIns="0" rIns="0" bIns="0" rtlCol="0" anchor="t"/>
          <a:lstStyle/>
          <a:p>
            <a:pPr algn="ctr" indent="0" marL="0">
              <a:lnSpc>
                <a:spcPct val="104000"/>
              </a:lnSpc>
              <a:buNone/>
            </a:pPr>
            <a:r>
              <a:rPr lang="en-US" sz="2750" b="1" dirty="0">
                <a:solidFill>
                  <a:srgbClr val="FFFFFF"/>
                </a:solidFill>
                <a:latin typeface="Overpass Bold" pitchFamily="34" charset="0"/>
                <a:ea typeface="Overpass Bold" pitchFamily="34" charset="-122"/>
                <a:cs typeface="Overpass Bold" pitchFamily="34" charset="-120"/>
              </a:rPr>
              <a:t>Conclusion</a:t>
            </a:r>
            <a:endParaRPr lang="en-US" sz="2750" dirty="0"/>
          </a:p>
        </p:txBody>
      </p:sp>
      <p:sp>
        <p:nvSpPr>
          <p:cNvPr id="3" name="Text 1"/>
          <p:cNvSpPr/>
          <p:nvPr/>
        </p:nvSpPr>
        <p:spPr>
          <a:xfrm>
            <a:off x="523577" y="2221334"/>
            <a:ext cx="8096845" cy="1365200"/>
          </a:xfrm>
          <a:prstGeom prst="rect">
            <a:avLst/>
          </a:prstGeom>
          <a:noFill/>
          <a:ln/>
        </p:spPr>
        <p:txBody>
          <a:bodyPr wrap="square" lIns="0" tIns="0" rIns="0" bIns="0" rtlCol="0" anchor="t">
            <a:normAutofit/>
          </a:bodyPr>
          <a:lstStyle/>
          <a:p>
            <a:pPr algn="ctr" indent="0" marL="0">
              <a:lnSpc>
                <a:spcPct val="133000"/>
              </a:lnSpc>
              <a:spcAft>
                <a:spcPts val="1300"/>
              </a:spcAft>
              <a:buNone/>
            </a:pPr>
            <a:r>
              <a:rPr lang="en-US" sz="1150" dirty="0">
                <a:solidFill>
                  <a:srgbClr val="E5E0DF"/>
                </a:solidFill>
                <a:latin typeface="Overpass" pitchFamily="34" charset="0"/>
                <a:ea typeface="Overpass" pitchFamily="34" charset="-122"/>
                <a:cs typeface="Overpass" pitchFamily="34" charset="-120"/>
              </a:rPr>
              <a:t>This project demonstrates how business data can be transformed into meaningful insights using data analysis, dashboarding, and storytelling. By analyzing sales, profit, customers, categories, regions, shipping, and discounts, the project identifies practical opportunities to improve revenue generation, regional profitability, customer retention, shipping efficiency, and discount strategy.</a:t>
            </a:r>
            <a:endParaRPr lang="en-US" sz="1150" dirty="0"/>
          </a:p>
          <a:p>
            <a:pPr algn="ctr" indent="0" marL="0">
              <a:lnSpc>
                <a:spcPct val="133000"/>
              </a:lnSpc>
              <a:buNone/>
            </a:pPr>
            <a:r>
              <a:rPr lang="en-US" sz="1150" dirty="0">
                <a:solidFill>
                  <a:srgbClr val="E5E0DF"/>
                </a:solidFill>
                <a:latin typeface="Overpass" pitchFamily="34" charset="0"/>
                <a:ea typeface="Overpass" pitchFamily="34" charset="-122"/>
                <a:cs typeface="Overpass" pitchFamily="34" charset="-120"/>
              </a:rPr>
              <a:t>The project highlights the value of data-driven decision-making in retail business performance analysis.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2026-07-09T09:15:34Z</dcterms:created>
  <dcterms:modified xsi:type="dcterms:W3CDTF">2026-07-09T09:15:34Z</dcterms:modified>
</cp:coreProperties>
</file>